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m'appelle Karim, étudiant en Master Informatique au CESI, filière Manager le SI. Mon sujet : « Cybersécurité et IA, l'avenir d'un SI résilient ». Je l'aborde du point de vue du manager du SI : exploiter l'IA pour se défendre, anticiper ses usages offensifs, et garantir que le SI continue de fonctionner même sous attaque.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d'entrer dans le sujet, je pose ma problématique, car c'est elle qui tient tout le fil. L'IA transforme la cybersécurité, mais des deux côtés à la fois. Ma question : comment le manager du SI peut-il faire de l'IA un levier de résilience plutôt qu'un facteur de risque, sur trois plans indissociables — technique, organisationnel et juridique. J'y réponds en trois temps : d'abord le bouclier, ce que l'IA apporte à la défense ; puis l'épée, la même IA qui arme l'attaquant et devient une cible ; enfin les leviers pour bâtir un SI résilient. Le mot-clé de ma soutenance : résilience — on ne peut plus tout empêcher, l'enjeu devient de tenir malgré l'attaque.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faits pour planter le décor. Un : selon IBM, les organisations qui utilisent massivement l'IA en défense économisent 1,9 million de dollars par violation et détectent 80 jours plus tôt — l'IA est un vrai bouclier. Deux : selon l'ENISA, plus de 80 % des e-mails de phishing utilisent l'IA — la même technologie sert l'attaquant. Trois : en 2024, un employé du cabinet Arup a viré 25,6 millions de dollars après une visioconférence où tous ses interlocuteurs, dont le directeur financier, étaient des deepfakes générés par IA. Bouclier, arme, illusion parfaite : voilà l'épée à double tranchant. D'où la vraie question : non plus comment empêcher, mais comment rester debout — la résilience.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définitions pour parler la même langue que le jury. La cybersécurité, d'abord : ce n'est pas que de la technique, c'est l'ensemble des moyens techniques, organisationnels et humains qui protègent trois propriétés — confidentialité, intégrité et disponibilité, la triade CIA, socle des normes ISO 27000 et de l'ANSSI. L'IA en cybersécurité, ensuite : c'est du machine learning, supervisé pour reconnaître des menaces connues, non supervisé pour détecter l'anomalie inédite. Enfin, le SI résilient, cœur de mon sujet : la capacité à anticiper, résister, se rétablir et s'adapter. La nuance est capitale — la sécurité cherche à empêcher l'attaque, la résilience part du principe qu'une partie passera quoi qu'il arrive et organise la continuité. C'est la logique du référentiel NIST CSF version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le côté lumineux, réel et massif. Le chiffre le plus parlant vient du rapport IBM 2025 : une organisation qui déploie largement l'IA et l'automatisation en défense paie en moyenne 3,6 millions de dollars par violation, contre 5,5 pour les autres — 1,9 million d'économie, et surtout une détection 80 jours plus rapide. En cybersécurité, le temps c'est tout. Concrètement, où l'IA agit-elle ? Dans le SOC, le centre opérationnel de sécurité. Le SIEM collecte les journaux ; couplé à l'UEBA, il apprend le comportement normal et alerte quand quelqu'un se connecte à 3 h du matin depuis l'étranger et aspire toute une base. Le SOAR automatise ensuite la réponse. L'IA ne remplace pas l'analyste : elle trie le déluge d'alertes. C'est un multiplicateur de force — d'où un marché qui passe de 26 à 86 milliards.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vient de voir l'IA comme bouclier. Le problème, c'est qu'un outil n'a pas de camp : le machine learning qui repère une anomalie pour le défenseur est exactement celui qui apprend à la maquiller pour l'attaquant. La cybersécurité devient une course symétrique. Et cette symétrie fait s'effondrer la barrière à l'entrée : avant, monter un phishing crédible demandait du temps et des compétences ; aujourd'hui, un modèle de langage le fait en quelques secondes, à l'échelle, personnalisé. On n'a plus besoin d'être expert pour lancer une attaque sophistiquée. C'est le point de bascule : je passe du bouclier à l'épée.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revers a deux volets, et on oublie souvent le second. Volet A, l'IA comme arme : l'ENISA confirme que plus de 80 % des e-mails de phishing sont désormais rédigés ou personnalisés par IA. Il existe même des modèles conçus pour le crime, WormGPT ou FraudGPT, vendus sur des forums sans garde-fous. Ajoutez les deepfakes : c'est le cas Arup, 25,6 millions détournés. Et des services de renseignement utilisent des IA grand public pour de la reconnaissance et de la génération de code. Volet B, plus subtil : quand on déploie de l'IA, elle devient elle-même une cible. On peut empoisonner ses données d'entraînement, la tromper avec des exemples adverses, ou l'injection de prompt — que l'OWASP classe risque numéro 1 pour les LLM. Sans oublier le shadow AI, 670 000 dollars de surcoût. Autrement dit : sécuriser avec l'IA ne suffit pas, il faut aussi sécuriser l'IA.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est la plus dense, je la lis en deux temps distincts. Les volumes d'abord : en France, l'ANSSI a traité 1 366 incidents en 2025, dont 128 rançongiciels majeurs et 196 exfiltrations ; à l'échelle européenne, l'ENISA en a analysé 4 875 sur un an. La menace est de masse, permanente. Les usages ensuite — c'est là que l'IA change la donne : plus de 80 % du phishing est dopé à l'IA, l'ingénierie sociale est industrialisée ; et la cible se démocratise, 48 % des victimes de rançongiciel sont des PME, TPE, ETI, plus seulement les grands groupes. Les secteurs les plus touchés : éducation-recherche un tiers, collectivités un quart, puis la santé. Enfin, l'ANSSI note un brouillage entre États et cybercriminels : la frontière géopolitique s'efface.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J'entre dans ma troisième partie : construire la résilience. Et ce n'est plus un choix, l'Europe l'impose par deux textes. La directive NIS2, transposée en France en 2025, élargit énormément le périmètre : des milliers d'entités classées essentielles ou importantes selon leur taille, avec des mesures à la fois techniques ET organisationnelles, une notification à l'ANSSI en 24 heures, 72 heures puis 30 jours, et — c'est nouveau — la responsabilité personnelle des dirigeants, jusqu'à 10 millions d'euros ou 2 % du chiffre d'affaires. Le règlement DORA, appliqué depuis janvier 2025 à plus de 22 000 entités financières, impose des tests de résilience réguliers et la surveillance des sous-traitants informatiques. Ces deux textes actent un basculement de doctrine : on n'exige plus seulement d'empêcher, mais de pouvoir encaisser et se rétablir.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partie II a montré que l'IA elle-même est attaquable ; la bonne nouvelle, c'est que le droit vient de l'intégrer. L'AI Act classe les systèmes en quatre niveaux de risque ; les IA gérant une infrastructure critique sont classées haut risque, et son article 15 exige explicitement exactitude, robustesse et cybersécurité — résistance à l'empoisonnement et aux exemples adverses. Autrement dit, les attaques que je décrivais il y a deux minutes deviennent une non-conformité légale, avec 35 millions ou 7 % du chiffre d'affaires à la clé. Et le RGPD imposait déjà la sécurité : l'article 32, des mesures appropriées, l'article 33, la notification en 72 heures. La fuite de l'ANTS, 11,7 millions de comptes par une faille triviale, en est le manquement type. Enfin, l'ANSSI a publié 35 recommandations pour sécuriser une IA générative — le pont concret entre le droit et la technique.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problématique annonçait trois plans, je les traite frontalement, avec trois familles de leviers. Sur le plan technique, le socle c'est le Zero Trust — ne jamais faire confiance, toujours vérifier — la défense en profondeur, le SOC augmenté par l'IA, et le MLSecOps pour sécuriser l'IA elle-même ; plus le plan de reprise avec sauvegardes immuables, ce qui permet de dire non à un rançongiciel. Sur le plan organisationnel, celui qu'on oublie le plus : la gouvernance avec un RSSI, un DPO, un comité d'éthique ; la méthode EBIOS Risk Manager, l'analyse d'impact AIPD, la classification des données ; une politique d'usage de l'IA contre le shadow AI ; et la formation — 70 % des DRH en font une priorité. Sur le plan juridique, transformer NIS2, DORA, AI Act et RGPD en feuille de route, et la répercuter sur les fournisseurs par contrat. Ces trois familles ne fonctionnent qu'ensemble.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conclus en trois points. Un : l'IA est un vrai multiplicateur de force pour la défense — le rapport IBM le chiffre à 1,9 million d'économie par violation et 80 jours de détection gagnés. Deux : mais la même IA arme l'attaquant — 80 % du phishing, des deepfakes à 25 millions — et devient elle-même une surface d'attaque. C'est l'épée à double tranchant. Trois, ma réponse à la problématique : la résilience ne se décrète pas, elle naît de la convergence des trois plans, sous le principe « assume the breach » — partir du principe qu'on sera pénétré et concevoir le SI pour tenir quand même. La question n'est plus si on sera attaqué, mais quand, et si le système tiendra. Je termine par une question ouverte : à mesure que défenseurs et attaquants s'équipent de la même IA, l'humain reste-t-il l'arbitre de cette course… ou en devient-il la variable d'ajustement ? Je vous remercie.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mes sources, organisées en institutionnel, études de marché, presse et référentiels techniques. Chaque chiffre du deck a une source nominative ; la bibliographie détaillée est disponible si vous souhaitez vérifier une donnée.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48840"/>
            <a:ext cx="10360152" cy="365760"/>
          </a:xfrm>
          <a:prstGeom prst="rect">
            <a:avLst/>
          </a:prstGeom>
          <a:noFill/>
        </p:spPr>
        <p:txBody>
          <a:bodyPr wrap="square" lIns="0" rIns="0" tIns="0" bIns="0">
            <a:spAutoFit/>
          </a:bodyPr>
          <a:lstStyle/>
          <a:p>
            <a:pPr algn="ctr">
              <a:spcBef>
                <a:spcPts val="0"/>
              </a:spcBef>
              <a:spcAft>
                <a:spcPts val="600"/>
              </a:spcAft>
            </a:pPr>
            <a:r>
              <a:rPr sz="1300" b="1" i="0">
                <a:solidFill>
                  <a:srgbClr val="2563EB"/>
                </a:solidFill>
                <a:latin typeface="Segoe UI"/>
              </a:rPr>
              <a:t>GRAND ORAL CESI · SUJET BLANC · THÈME CYBERSÉCURITÉ</a:t>
            </a:r>
          </a:p>
        </p:txBody>
      </p:sp>
      <p:sp>
        <p:nvSpPr>
          <p:cNvPr id="4" name="TextBox 3"/>
          <p:cNvSpPr txBox="1"/>
          <p:nvPr/>
        </p:nvSpPr>
        <p:spPr>
          <a:xfrm>
            <a:off x="914400" y="2560320"/>
            <a:ext cx="10360152" cy="1463040"/>
          </a:xfrm>
          <a:prstGeom prst="rect">
            <a:avLst/>
          </a:prstGeom>
          <a:noFill/>
        </p:spPr>
        <p:txBody>
          <a:bodyPr wrap="square" lIns="0" rIns="0" tIns="0" bIns="0">
            <a:spAutoFit/>
          </a:bodyPr>
          <a:lstStyle/>
          <a:p>
            <a:pPr algn="ctr">
              <a:lnSpc>
                <a:spcPct val="105000"/>
              </a:lnSpc>
              <a:spcBef>
                <a:spcPts val="0"/>
              </a:spcBef>
              <a:spcAft>
                <a:spcPts val="200"/>
              </a:spcAft>
            </a:pPr>
            <a:r>
              <a:rPr sz="4000" b="1" i="0">
                <a:solidFill>
                  <a:srgbClr val="0F172A"/>
                </a:solidFill>
                <a:latin typeface="Segoe UI"/>
              </a:rPr>
              <a:t>Cybersécurité et IA :</a:t>
            </a:r>
          </a:p>
          <a:p>
            <a:pPr algn="ctr">
              <a:lnSpc>
                <a:spcPct val="105000"/>
              </a:lnSpc>
              <a:spcBef>
                <a:spcPts val="0"/>
              </a:spcBef>
              <a:spcAft>
                <a:spcPts val="0"/>
              </a:spcAft>
            </a:pPr>
            <a:r>
              <a:rPr sz="4000" b="1" i="0">
                <a:solidFill>
                  <a:srgbClr val="0F172A"/>
                </a:solidFill>
                <a:latin typeface="Segoe UI"/>
              </a:rPr>
              <a:t>l'avenir d'un </a:t>
            </a:r>
            <a:r>
              <a:rPr sz="4000" b="1" i="0">
                <a:solidFill>
                  <a:srgbClr val="B45309"/>
                </a:solidFill>
                <a:latin typeface="Segoe UI"/>
              </a:rPr>
              <a:t>SI résilient</a:t>
            </a:r>
          </a:p>
        </p:txBody>
      </p:sp>
      <p:sp>
        <p:nvSpPr>
          <p:cNvPr id="5" name="TextBox 4"/>
          <p:cNvSpPr txBox="1"/>
          <p:nvPr/>
        </p:nvSpPr>
        <p:spPr>
          <a:xfrm>
            <a:off x="1371600" y="4160520"/>
            <a:ext cx="9445752" cy="548640"/>
          </a:xfrm>
          <a:prstGeom prst="rect">
            <a:avLst/>
          </a:prstGeom>
          <a:noFill/>
        </p:spPr>
        <p:txBody>
          <a:bodyPr wrap="square" lIns="0" rIns="0" tIns="0" bIns="0">
            <a:spAutoFit/>
          </a:bodyPr>
          <a:lstStyle/>
          <a:p>
            <a:pPr algn="ctr">
              <a:spcBef>
                <a:spcPts val="0"/>
              </a:spcBef>
              <a:spcAft>
                <a:spcPts val="600"/>
              </a:spcAft>
            </a:pPr>
            <a:r>
              <a:rPr sz="1700" b="0" i="1">
                <a:solidFill>
                  <a:srgbClr val="64748B"/>
                </a:solidFill>
                <a:latin typeface="Segoe UI"/>
              </a:rPr>
              <a:t>Quand la même intelligence artificielle arme le défenseur… et l'attaquant.</a:t>
            </a:r>
          </a:p>
        </p:txBody>
      </p:sp>
      <p:sp>
        <p:nvSpPr>
          <p:cNvPr id="6" name="TextBox 5"/>
          <p:cNvSpPr txBox="1"/>
          <p:nvPr/>
        </p:nvSpPr>
        <p:spPr>
          <a:xfrm>
            <a:off x="1371600" y="5029200"/>
            <a:ext cx="9445752" cy="640080"/>
          </a:xfrm>
          <a:prstGeom prst="rect">
            <a:avLst/>
          </a:prstGeom>
          <a:noFill/>
        </p:spPr>
        <p:txBody>
          <a:bodyPr wrap="square" lIns="0" rIns="0" tIns="0" bIns="0">
            <a:spAutoFit/>
          </a:bodyPr>
          <a:lstStyle/>
          <a:p>
            <a:pPr algn="ctr">
              <a:spcBef>
                <a:spcPts val="0"/>
              </a:spcBef>
              <a:spcAft>
                <a:spcPts val="600"/>
              </a:spcAft>
            </a:pPr>
            <a:r>
              <a:rPr sz="1500" b="1" i="0">
                <a:solidFill>
                  <a:srgbClr val="0F172A"/>
                </a:solidFill>
                <a:latin typeface="Segoe UI"/>
              </a:rPr>
              <a:t>Karim</a:t>
            </a:r>
            <a:r>
              <a:rPr sz="1500" b="0" i="0">
                <a:solidFill>
                  <a:srgbClr val="334155"/>
                </a:solidFill>
                <a:latin typeface="Segoe UI"/>
              </a:rPr>
              <a:t>  —  Master Informatique CESI · Filière « Manager le SI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02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PROBLÉMATIQUE · PLAN EN TROIS TEMPS</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Le fil rouge de cette soutenance</a:t>
            </a:r>
          </a:p>
        </p:txBody>
      </p:sp>
      <p:sp>
        <p:nvSpPr>
          <p:cNvPr id="6" name="Rounded Rectangle 5"/>
          <p:cNvSpPr/>
          <p:nvPr/>
        </p:nvSpPr>
        <p:spPr>
          <a:xfrm>
            <a:off x="502920" y="1536192"/>
            <a:ext cx="11183112" cy="1051560"/>
          </a:xfrm>
          <a:prstGeom prst="roundRect">
            <a:avLst>
              <a:gd name="adj" fmla="val 6000"/>
            </a:avLst>
          </a:prstGeom>
          <a:solidFill>
            <a:srgbClr val="EFF6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777240"/>
          </a:xfrm>
          <a:prstGeom prst="rect">
            <a:avLst/>
          </a:prstGeom>
          <a:noFill/>
        </p:spPr>
        <p:txBody>
          <a:bodyPr wrap="square" lIns="0" rIns="0" tIns="0" bIns="0" anchor="ctr">
            <a:spAutoFit/>
          </a:bodyPr>
          <a:lstStyle/>
          <a:p>
            <a:pPr>
              <a:lnSpc>
                <a:spcPct val="115000"/>
              </a:lnSpc>
              <a:spcBef>
                <a:spcPts val="0"/>
              </a:spcBef>
              <a:spcAft>
                <a:spcPts val="0"/>
              </a:spcAft>
            </a:pPr>
            <a:r>
              <a:rPr sz="1800" b="0" i="1">
                <a:solidFill>
                  <a:srgbClr val="0F172A"/>
                </a:solidFill>
                <a:latin typeface="Segoe UI"/>
              </a:rPr>
              <a:t>Faire de l'IA un </a:t>
            </a:r>
            <a:r>
              <a:rPr sz="1800" b="1" i="1">
                <a:solidFill>
                  <a:srgbClr val="2563EB"/>
                </a:solidFill>
                <a:latin typeface="Segoe UI"/>
              </a:rPr>
              <a:t>levier de résilience</a:t>
            </a:r>
            <a:r>
              <a:rPr sz="1800" b="0" i="1">
                <a:solidFill>
                  <a:srgbClr val="0F172A"/>
                </a:solidFill>
                <a:latin typeface="Segoe UI"/>
              </a:rPr>
              <a:t> plutôt qu'un facteur de risque — sur les plans </a:t>
            </a:r>
            <a:r>
              <a:rPr sz="1800" b="1" i="1">
                <a:solidFill>
                  <a:srgbClr val="2563EB"/>
                </a:solidFill>
                <a:latin typeface="Segoe UI"/>
              </a:rPr>
              <a:t>technique</a:t>
            </a:r>
            <a:r>
              <a:rPr sz="1800" b="0" i="1">
                <a:solidFill>
                  <a:srgbClr val="0F172A"/>
                </a:solidFill>
                <a:latin typeface="Segoe UI"/>
              </a:rPr>
              <a:t>, </a:t>
            </a:r>
            <a:r>
              <a:rPr sz="1800" b="1" i="1">
                <a:solidFill>
                  <a:srgbClr val="B45309"/>
                </a:solidFill>
                <a:latin typeface="Segoe UI"/>
              </a:rPr>
              <a:t>organisationnel</a:t>
            </a:r>
            <a:r>
              <a:rPr sz="1800" b="0" i="1">
                <a:solidFill>
                  <a:srgbClr val="0F172A"/>
                </a:solidFill>
                <a:latin typeface="Segoe UI"/>
              </a:rPr>
              <a:t> et </a:t>
            </a:r>
            <a:r>
              <a:rPr sz="1800" b="1" i="1">
                <a:solidFill>
                  <a:srgbClr val="059669"/>
                </a:solidFill>
                <a:latin typeface="Segoe UI"/>
              </a:rPr>
              <a:t>juridique</a:t>
            </a:r>
            <a:r>
              <a:rPr sz="1800" b="0" i="1">
                <a:solidFill>
                  <a:srgbClr val="0F172A"/>
                </a:solidFill>
                <a:latin typeface="Segoe UI"/>
              </a:rPr>
              <a:t>.</a:t>
            </a:r>
          </a:p>
        </p:txBody>
      </p:sp>
      <p:sp>
        <p:nvSpPr>
          <p:cNvPr id="8" name="Rounded Rectangle 7"/>
          <p:cNvSpPr/>
          <p:nvPr/>
        </p:nvSpPr>
        <p:spPr>
          <a:xfrm>
            <a:off x="502920" y="2880360"/>
            <a:ext cx="3538728" cy="283464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80360"/>
            <a:ext cx="2990088" cy="2834640"/>
          </a:xfrm>
          <a:prstGeom prst="rect">
            <a:avLst/>
          </a:prstGeom>
          <a:noFill/>
        </p:spPr>
        <p:txBody>
          <a:bodyPr wrap="square" lIns="0" rIns="0" tIns="0" bIns="0" anchor="ctr">
            <a:spAutoFit/>
          </a:bodyPr>
          <a:lstStyle/>
          <a:p>
            <a:pPr>
              <a:spcBef>
                <a:spcPts val="0"/>
              </a:spcBef>
              <a:spcAft>
                <a:spcPts val="1200"/>
              </a:spcAft>
            </a:pPr>
            <a:r>
              <a:rPr sz="1200" b="1" i="0">
                <a:solidFill>
                  <a:srgbClr val="2563EB"/>
                </a:solidFill>
                <a:latin typeface="Segoe UI"/>
              </a:rPr>
              <a:t>PARTIE I</a:t>
            </a:r>
          </a:p>
          <a:p>
            <a:pPr>
              <a:spcBef>
                <a:spcPts val="0"/>
              </a:spcBef>
              <a:spcAft>
                <a:spcPts val="1200"/>
              </a:spcAft>
            </a:pPr>
            <a:r>
              <a:rPr sz="2300" b="1" i="0">
                <a:solidFill>
                  <a:srgbClr val="0F172A"/>
                </a:solidFill>
                <a:latin typeface="Segoe UI"/>
              </a:rPr>
              <a:t>L'IA, bouclier</a:t>
            </a:r>
          </a:p>
          <a:p>
            <a:pPr>
              <a:spcBef>
                <a:spcPts val="0"/>
              </a:spcBef>
              <a:spcAft>
                <a:spcPts val="0"/>
              </a:spcAft>
            </a:pPr>
            <a:r>
              <a:rPr sz="1500" b="0" i="0">
                <a:solidFill>
                  <a:srgbClr val="64748B"/>
                </a:solidFill>
                <a:latin typeface="Segoe UI"/>
              </a:rPr>
              <a:t>Cyberdéfense augmentée</a:t>
            </a:r>
          </a:p>
        </p:txBody>
      </p:sp>
      <p:sp>
        <p:nvSpPr>
          <p:cNvPr id="10" name="Rounded Rectangle 9"/>
          <p:cNvSpPr/>
          <p:nvPr/>
        </p:nvSpPr>
        <p:spPr>
          <a:xfrm>
            <a:off x="4325112" y="2880360"/>
            <a:ext cx="3538728" cy="283464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2880360"/>
            <a:ext cx="2990088" cy="2834640"/>
          </a:xfrm>
          <a:prstGeom prst="rect">
            <a:avLst/>
          </a:prstGeom>
          <a:noFill/>
        </p:spPr>
        <p:txBody>
          <a:bodyPr wrap="square" lIns="0" rIns="0" tIns="0" bIns="0" anchor="ctr">
            <a:spAutoFit/>
          </a:bodyPr>
          <a:lstStyle/>
          <a:p>
            <a:pPr>
              <a:spcBef>
                <a:spcPts val="0"/>
              </a:spcBef>
              <a:spcAft>
                <a:spcPts val="1200"/>
              </a:spcAft>
            </a:pPr>
            <a:r>
              <a:rPr sz="1200" b="1" i="0">
                <a:solidFill>
                  <a:srgbClr val="DC2626"/>
                </a:solidFill>
                <a:latin typeface="Segoe UI"/>
              </a:rPr>
              <a:t>PARTIE II</a:t>
            </a:r>
          </a:p>
          <a:p>
            <a:pPr>
              <a:spcBef>
                <a:spcPts val="0"/>
              </a:spcBef>
              <a:spcAft>
                <a:spcPts val="1200"/>
              </a:spcAft>
            </a:pPr>
            <a:r>
              <a:rPr sz="2300" b="1" i="0">
                <a:solidFill>
                  <a:srgbClr val="0F172A"/>
                </a:solidFill>
                <a:latin typeface="Segoe UI"/>
              </a:rPr>
              <a:t>L'IA, arme</a:t>
            </a:r>
          </a:p>
          <a:p>
            <a:pPr>
              <a:spcBef>
                <a:spcPts val="0"/>
              </a:spcBef>
              <a:spcAft>
                <a:spcPts val="0"/>
              </a:spcAft>
            </a:pPr>
            <a:r>
              <a:rPr sz="1500" b="0" i="0">
                <a:solidFill>
                  <a:srgbClr val="64748B"/>
                </a:solidFill>
                <a:latin typeface="Segoe UI"/>
              </a:rPr>
              <a:t>La menace se réinvente</a:t>
            </a:r>
          </a:p>
        </p:txBody>
      </p:sp>
      <p:sp>
        <p:nvSpPr>
          <p:cNvPr id="12" name="Rounded Rectangle 11"/>
          <p:cNvSpPr/>
          <p:nvPr/>
        </p:nvSpPr>
        <p:spPr>
          <a:xfrm>
            <a:off x="8147304" y="2880360"/>
            <a:ext cx="3538728" cy="283464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21624" y="2880360"/>
            <a:ext cx="2990088" cy="2834640"/>
          </a:xfrm>
          <a:prstGeom prst="rect">
            <a:avLst/>
          </a:prstGeom>
          <a:noFill/>
        </p:spPr>
        <p:txBody>
          <a:bodyPr wrap="square" lIns="0" rIns="0" tIns="0" bIns="0" anchor="ctr">
            <a:spAutoFit/>
          </a:bodyPr>
          <a:lstStyle/>
          <a:p>
            <a:pPr>
              <a:spcBef>
                <a:spcPts val="0"/>
              </a:spcBef>
              <a:spcAft>
                <a:spcPts val="1200"/>
              </a:spcAft>
            </a:pPr>
            <a:r>
              <a:rPr sz="1200" b="1" i="0">
                <a:solidFill>
                  <a:srgbClr val="B45309"/>
                </a:solidFill>
                <a:latin typeface="Segoe UI"/>
              </a:rPr>
              <a:t>PARTIE III</a:t>
            </a:r>
          </a:p>
          <a:p>
            <a:pPr>
              <a:spcBef>
                <a:spcPts val="0"/>
              </a:spcBef>
              <a:spcAft>
                <a:spcPts val="1200"/>
              </a:spcAft>
            </a:pPr>
            <a:r>
              <a:rPr sz="2300" b="1" i="0">
                <a:solidFill>
                  <a:srgbClr val="0F172A"/>
                </a:solidFill>
                <a:latin typeface="Segoe UI"/>
              </a:rPr>
              <a:t>Bâtir la résilience</a:t>
            </a:r>
          </a:p>
          <a:p>
            <a:pPr>
              <a:spcBef>
                <a:spcPts val="0"/>
              </a:spcBef>
              <a:spcAft>
                <a:spcPts val="0"/>
              </a:spcAft>
            </a:pPr>
            <a:r>
              <a:rPr sz="1500" b="0" i="0">
                <a:solidFill>
                  <a:srgbClr val="64748B"/>
                </a:solidFill>
                <a:latin typeface="Segoe UI"/>
              </a:rPr>
              <a:t>Technique · gouvernance · droit</a:t>
            </a:r>
          </a:p>
        </p:txBody>
      </p:sp>
      <p:sp>
        <p:nvSpPr>
          <p:cNvPr id="14" name="Rectangle 13"/>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Angle : manager du SI · volontairement équilibré.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03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ACCROCHE · TROIS FAITS, UNE MÊME TECHNOLOGIE</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L'épée à double tranchant</a:t>
            </a:r>
          </a:p>
        </p:txBody>
      </p:sp>
      <p:sp>
        <p:nvSpPr>
          <p:cNvPr id="6" name="Rounded Rectangle 5"/>
          <p:cNvSpPr/>
          <p:nvPr/>
        </p:nvSpPr>
        <p:spPr>
          <a:xfrm>
            <a:off x="502920" y="1828800"/>
            <a:ext cx="3538728" cy="228600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081528" cy="2286000"/>
          </a:xfrm>
          <a:prstGeom prst="rect">
            <a:avLst/>
          </a:prstGeom>
          <a:noFill/>
        </p:spPr>
        <p:txBody>
          <a:bodyPr wrap="square" lIns="0" rIns="0" tIns="0" bIns="0" anchor="ctr">
            <a:spAutoFit/>
          </a:bodyPr>
          <a:lstStyle/>
          <a:p>
            <a:pPr algn="ctr">
              <a:spcBef>
                <a:spcPts val="0"/>
              </a:spcBef>
              <a:spcAft>
                <a:spcPts val="1200"/>
              </a:spcAft>
            </a:pPr>
            <a:r>
              <a:rPr sz="4600" b="1" i="0">
                <a:solidFill>
                  <a:srgbClr val="059669"/>
                </a:solidFill>
                <a:latin typeface="Segoe UI"/>
              </a:rPr>
              <a:t>− 1,9 M$</a:t>
            </a:r>
          </a:p>
          <a:p>
            <a:pPr algn="ctr">
              <a:spcBef>
                <a:spcPts val="0"/>
              </a:spcBef>
              <a:spcAft>
                <a:spcPts val="0"/>
              </a:spcAft>
            </a:pPr>
            <a:r>
              <a:rPr sz="1500" b="0" i="0">
                <a:solidFill>
                  <a:srgbClr val="334155"/>
                </a:solidFill>
                <a:latin typeface="Segoe UI"/>
              </a:rPr>
              <a:t>l'IA en défense — détection 80 j plus vite</a:t>
            </a:r>
          </a:p>
        </p:txBody>
      </p:sp>
      <p:sp>
        <p:nvSpPr>
          <p:cNvPr id="8" name="Rounded Rectangle 7"/>
          <p:cNvSpPr/>
          <p:nvPr/>
        </p:nvSpPr>
        <p:spPr>
          <a:xfrm>
            <a:off x="4325112" y="1828800"/>
            <a:ext cx="3538728" cy="228600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828800"/>
            <a:ext cx="3081528" cy="2286000"/>
          </a:xfrm>
          <a:prstGeom prst="rect">
            <a:avLst/>
          </a:prstGeom>
          <a:noFill/>
        </p:spPr>
        <p:txBody>
          <a:bodyPr wrap="square" lIns="0" rIns="0" tIns="0" bIns="0" anchor="ctr">
            <a:spAutoFit/>
          </a:bodyPr>
          <a:lstStyle/>
          <a:p>
            <a:pPr algn="ctr">
              <a:spcBef>
                <a:spcPts val="0"/>
              </a:spcBef>
              <a:spcAft>
                <a:spcPts val="1200"/>
              </a:spcAft>
            </a:pPr>
            <a:r>
              <a:rPr sz="4600" b="1" i="0">
                <a:solidFill>
                  <a:srgbClr val="DC2626"/>
                </a:solidFill>
                <a:latin typeface="Segoe UI"/>
              </a:rPr>
              <a:t>80 %+</a:t>
            </a:r>
          </a:p>
          <a:p>
            <a:pPr algn="ctr">
              <a:spcBef>
                <a:spcPts val="0"/>
              </a:spcBef>
              <a:spcAft>
                <a:spcPts val="0"/>
              </a:spcAft>
            </a:pPr>
            <a:r>
              <a:rPr sz="1500" b="0" i="0">
                <a:solidFill>
                  <a:srgbClr val="334155"/>
                </a:solidFill>
                <a:latin typeface="Segoe UI"/>
              </a:rPr>
              <a:t>du phishing dopé à l'IA</a:t>
            </a:r>
          </a:p>
        </p:txBody>
      </p:sp>
      <p:sp>
        <p:nvSpPr>
          <p:cNvPr id="10" name="Rounded Rectangle 9"/>
          <p:cNvSpPr/>
          <p:nvPr/>
        </p:nvSpPr>
        <p:spPr>
          <a:xfrm>
            <a:off x="8147304" y="1828800"/>
            <a:ext cx="3538728" cy="228600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75904" y="1828800"/>
            <a:ext cx="3081528" cy="2286000"/>
          </a:xfrm>
          <a:prstGeom prst="rect">
            <a:avLst/>
          </a:prstGeom>
          <a:noFill/>
        </p:spPr>
        <p:txBody>
          <a:bodyPr wrap="square" lIns="0" rIns="0" tIns="0" bIns="0" anchor="ctr">
            <a:spAutoFit/>
          </a:bodyPr>
          <a:lstStyle/>
          <a:p>
            <a:pPr algn="ctr">
              <a:spcBef>
                <a:spcPts val="0"/>
              </a:spcBef>
              <a:spcAft>
                <a:spcPts val="1200"/>
              </a:spcAft>
            </a:pPr>
            <a:r>
              <a:rPr sz="4600" b="1" i="0">
                <a:solidFill>
                  <a:srgbClr val="DC2626"/>
                </a:solidFill>
                <a:latin typeface="Segoe UI"/>
              </a:rPr>
              <a:t>25,6 M$</a:t>
            </a:r>
          </a:p>
          <a:p>
            <a:pPr algn="ctr">
              <a:spcBef>
                <a:spcPts val="0"/>
              </a:spcBef>
              <a:spcAft>
                <a:spcPts val="0"/>
              </a:spcAft>
            </a:pPr>
            <a:r>
              <a:rPr sz="1500" b="0" i="0">
                <a:solidFill>
                  <a:srgbClr val="334155"/>
                </a:solidFill>
                <a:latin typeface="Segoe UI"/>
              </a:rPr>
              <a:t>un deepfake de DAF en visio (Arup)</a:t>
            </a:r>
          </a:p>
        </p:txBody>
      </p:sp>
      <p:sp>
        <p:nvSpPr>
          <p:cNvPr id="12" name="Rounded Rectangle 11"/>
          <p:cNvSpPr/>
          <p:nvPr/>
        </p:nvSpPr>
        <p:spPr>
          <a:xfrm>
            <a:off x="502920" y="4617720"/>
            <a:ext cx="11183112" cy="960120"/>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10515600" cy="960120"/>
          </a:xfrm>
          <a:prstGeom prst="rect">
            <a:avLst/>
          </a:prstGeom>
          <a:noFill/>
        </p:spPr>
        <p:txBody>
          <a:bodyPr wrap="square" lIns="0" rIns="0" tIns="0" bIns="0" anchor="ctr">
            <a:spAutoFit/>
          </a:bodyPr>
          <a:lstStyle/>
          <a:p>
            <a:pPr>
              <a:spcBef>
                <a:spcPts val="0"/>
              </a:spcBef>
              <a:spcAft>
                <a:spcPts val="0"/>
              </a:spcAft>
            </a:pPr>
            <a:r>
              <a:rPr sz="1900" b="0" i="1">
                <a:solidFill>
                  <a:srgbClr val="0F172A"/>
                </a:solidFill>
                <a:latin typeface="Segoe UI"/>
              </a:rPr>
              <a:t>La même IA défend et attaque. Le vrai enjeu : la </a:t>
            </a:r>
            <a:r>
              <a:rPr sz="1900" b="1" i="1">
                <a:solidFill>
                  <a:srgbClr val="B45309"/>
                </a:solidFill>
                <a:latin typeface="Segoe UI"/>
              </a:rPr>
              <a:t>résilience</a:t>
            </a:r>
            <a:r>
              <a:rPr sz="1900" b="0" i="1">
                <a:solidFill>
                  <a:srgbClr val="0F172A"/>
                </a:solidFill>
                <a:latin typeface="Segoe UI"/>
              </a:rPr>
              <a:t>.</a:t>
            </a:r>
          </a:p>
        </p:txBody>
      </p:sp>
      <p:sp>
        <p:nvSpPr>
          <p:cNvPr id="14" name="Rectangle 13"/>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IBM Cost of a Data Breach 2025 · ENISA 2025 · CNN / Fortune (Arup,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04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CADRAGE CONCEPTUEL</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Trois mots, trois définitions</a:t>
            </a:r>
          </a:p>
        </p:txBody>
      </p:sp>
      <p:sp>
        <p:nvSpPr>
          <p:cNvPr id="6" name="Rounded Rectangle 5"/>
          <p:cNvSpPr/>
          <p:nvPr/>
        </p:nvSpPr>
        <p:spPr>
          <a:xfrm>
            <a:off x="502920" y="1783080"/>
            <a:ext cx="3108960" cy="1170432"/>
          </a:xfrm>
          <a:prstGeom prst="roundRect">
            <a:avLst>
              <a:gd name="adj" fmla="val 6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83080"/>
            <a:ext cx="2743200" cy="1170432"/>
          </a:xfrm>
          <a:prstGeom prst="rect">
            <a:avLst/>
          </a:prstGeom>
          <a:noFill/>
        </p:spPr>
        <p:txBody>
          <a:bodyPr wrap="square" lIns="0" rIns="0" tIns="0" bIns="0" anchor="ctr">
            <a:spAutoFit/>
          </a:bodyPr>
          <a:lstStyle/>
          <a:p>
            <a:pPr>
              <a:spcBef>
                <a:spcPts val="0"/>
              </a:spcBef>
              <a:spcAft>
                <a:spcPts val="600"/>
              </a:spcAft>
            </a:pPr>
            <a:r>
              <a:rPr sz="1700" b="1" i="0">
                <a:solidFill>
                  <a:srgbClr val="2563EB"/>
                </a:solidFill>
                <a:latin typeface="Segoe UI"/>
              </a:rPr>
              <a:t>Cybersécurité</a:t>
            </a:r>
          </a:p>
        </p:txBody>
      </p:sp>
      <p:sp>
        <p:nvSpPr>
          <p:cNvPr id="8" name="Rounded Rectangle 7"/>
          <p:cNvSpPr/>
          <p:nvPr/>
        </p:nvSpPr>
        <p:spPr>
          <a:xfrm>
            <a:off x="3703320" y="1783080"/>
            <a:ext cx="7982712" cy="117043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0" y="1783080"/>
            <a:ext cx="7543800" cy="1170432"/>
          </a:xfrm>
          <a:prstGeom prst="rect">
            <a:avLst/>
          </a:prstGeom>
          <a:noFill/>
        </p:spPr>
        <p:txBody>
          <a:bodyPr wrap="square" lIns="0" rIns="0" tIns="0" bIns="0" anchor="ctr">
            <a:spAutoFit/>
          </a:bodyPr>
          <a:lstStyle/>
          <a:p>
            <a:pPr>
              <a:spcBef>
                <a:spcPts val="0"/>
              </a:spcBef>
              <a:spcAft>
                <a:spcPts val="0"/>
              </a:spcAft>
            </a:pPr>
            <a:r>
              <a:rPr sz="1500" b="0" i="0">
                <a:solidFill>
                  <a:srgbClr val="334155"/>
                </a:solidFill>
                <a:latin typeface="Segoe UI"/>
              </a:rPr>
              <a:t>Protéger Confidentialité · Intégrité · Disponibilité — la triade CIA.</a:t>
            </a:r>
          </a:p>
        </p:txBody>
      </p:sp>
      <p:sp>
        <p:nvSpPr>
          <p:cNvPr id="10" name="Rounded Rectangle 9"/>
          <p:cNvSpPr/>
          <p:nvPr/>
        </p:nvSpPr>
        <p:spPr>
          <a:xfrm>
            <a:off x="502920" y="3136391"/>
            <a:ext cx="3108960" cy="1170432"/>
          </a:xfrm>
          <a:prstGeom prst="roundRect">
            <a:avLst>
              <a:gd name="adj" fmla="val 6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136391"/>
            <a:ext cx="2743200" cy="1170432"/>
          </a:xfrm>
          <a:prstGeom prst="rect">
            <a:avLst/>
          </a:prstGeom>
          <a:noFill/>
        </p:spPr>
        <p:txBody>
          <a:bodyPr wrap="square" lIns="0" rIns="0" tIns="0" bIns="0" anchor="ctr">
            <a:spAutoFit/>
          </a:bodyPr>
          <a:lstStyle/>
          <a:p>
            <a:pPr>
              <a:spcBef>
                <a:spcPts val="0"/>
              </a:spcBef>
              <a:spcAft>
                <a:spcPts val="600"/>
              </a:spcAft>
            </a:pPr>
            <a:r>
              <a:rPr sz="1700" b="1" i="0">
                <a:solidFill>
                  <a:srgbClr val="DC2626"/>
                </a:solidFill>
                <a:latin typeface="Segoe UI"/>
              </a:rPr>
              <a:t>IA en cybersécurité</a:t>
            </a:r>
          </a:p>
        </p:txBody>
      </p:sp>
      <p:sp>
        <p:nvSpPr>
          <p:cNvPr id="12" name="Rounded Rectangle 11"/>
          <p:cNvSpPr/>
          <p:nvPr/>
        </p:nvSpPr>
        <p:spPr>
          <a:xfrm>
            <a:off x="3703320" y="3136391"/>
            <a:ext cx="7982712" cy="117043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3136391"/>
            <a:ext cx="7543800" cy="1170432"/>
          </a:xfrm>
          <a:prstGeom prst="rect">
            <a:avLst/>
          </a:prstGeom>
          <a:noFill/>
        </p:spPr>
        <p:txBody>
          <a:bodyPr wrap="square" lIns="0" rIns="0" tIns="0" bIns="0" anchor="ctr">
            <a:spAutoFit/>
          </a:bodyPr>
          <a:lstStyle/>
          <a:p>
            <a:pPr>
              <a:spcBef>
                <a:spcPts val="0"/>
              </a:spcBef>
              <a:spcAft>
                <a:spcPts val="0"/>
              </a:spcAft>
            </a:pPr>
            <a:r>
              <a:rPr sz="1500" b="0" i="0">
                <a:solidFill>
                  <a:srgbClr val="334155"/>
                </a:solidFill>
                <a:latin typeface="Segoe UI"/>
              </a:rPr>
              <a:t>Machine learning : supervisé (le connu) + non supervisé (l'anomalie).</a:t>
            </a:r>
          </a:p>
        </p:txBody>
      </p:sp>
      <p:sp>
        <p:nvSpPr>
          <p:cNvPr id="14" name="Rounded Rectangle 13"/>
          <p:cNvSpPr/>
          <p:nvPr/>
        </p:nvSpPr>
        <p:spPr>
          <a:xfrm>
            <a:off x="502920" y="4489704"/>
            <a:ext cx="3108960" cy="1170432"/>
          </a:xfrm>
          <a:prstGeom prst="roundRect">
            <a:avLst>
              <a:gd name="adj" fmla="val 6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489704"/>
            <a:ext cx="2743200" cy="1170432"/>
          </a:xfrm>
          <a:prstGeom prst="rect">
            <a:avLst/>
          </a:prstGeom>
          <a:noFill/>
        </p:spPr>
        <p:txBody>
          <a:bodyPr wrap="square" lIns="0" rIns="0" tIns="0" bIns="0" anchor="ctr">
            <a:spAutoFit/>
          </a:bodyPr>
          <a:lstStyle/>
          <a:p>
            <a:pPr>
              <a:spcBef>
                <a:spcPts val="0"/>
              </a:spcBef>
              <a:spcAft>
                <a:spcPts val="600"/>
              </a:spcAft>
            </a:pPr>
            <a:r>
              <a:rPr sz="1700" b="1" i="0">
                <a:solidFill>
                  <a:srgbClr val="059669"/>
                </a:solidFill>
                <a:latin typeface="Segoe UI"/>
              </a:rPr>
              <a:t>SI résilient</a:t>
            </a:r>
          </a:p>
        </p:txBody>
      </p:sp>
      <p:sp>
        <p:nvSpPr>
          <p:cNvPr id="16" name="Rounded Rectangle 15"/>
          <p:cNvSpPr/>
          <p:nvPr/>
        </p:nvSpPr>
        <p:spPr>
          <a:xfrm>
            <a:off x="3703320" y="4489704"/>
            <a:ext cx="7982712" cy="117043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0" y="4489704"/>
            <a:ext cx="7543800" cy="1170432"/>
          </a:xfrm>
          <a:prstGeom prst="rect">
            <a:avLst/>
          </a:prstGeom>
          <a:noFill/>
        </p:spPr>
        <p:txBody>
          <a:bodyPr wrap="square" lIns="0" rIns="0" tIns="0" bIns="0" anchor="ctr">
            <a:spAutoFit/>
          </a:bodyPr>
          <a:lstStyle/>
          <a:p>
            <a:pPr>
              <a:spcBef>
                <a:spcPts val="0"/>
              </a:spcBef>
              <a:spcAft>
                <a:spcPts val="0"/>
              </a:spcAft>
            </a:pPr>
            <a:r>
              <a:rPr sz="1500" b="0" i="0">
                <a:solidFill>
                  <a:srgbClr val="334155"/>
                </a:solidFill>
                <a:latin typeface="Segoe UI"/>
              </a:rPr>
              <a:t>Anticiper · résister · se rétablir · s'adapter.  (NIST CSF 2.0)</a:t>
            </a:r>
          </a:p>
        </p:txBody>
      </p:sp>
      <p:sp>
        <p:nvSpPr>
          <p:cNvPr id="18" name="Rounded Rectangle 17"/>
          <p:cNvSpPr/>
          <p:nvPr/>
        </p:nvSpPr>
        <p:spPr>
          <a:xfrm>
            <a:off x="502920" y="5888736"/>
            <a:ext cx="11183112" cy="7863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888736"/>
            <a:ext cx="10607040" cy="786384"/>
          </a:xfrm>
          <a:prstGeom prst="rect">
            <a:avLst/>
          </a:prstGeom>
          <a:noFill/>
        </p:spPr>
        <p:txBody>
          <a:bodyPr wrap="square" lIns="0" rIns="0" tIns="0" bIns="0" anchor="ctr">
            <a:spAutoFit/>
          </a:bodyPr>
          <a:lstStyle/>
          <a:p>
            <a:pPr>
              <a:spcBef>
                <a:spcPts val="0"/>
              </a:spcBef>
              <a:spcAft>
                <a:spcPts val="0"/>
              </a:spcAft>
            </a:pPr>
            <a:r>
              <a:rPr sz="1600" b="1" i="0">
                <a:solidFill>
                  <a:srgbClr val="0F172A"/>
                </a:solidFill>
                <a:latin typeface="Segoe UI"/>
              </a:rPr>
              <a:t>Sécurité = empêcher l'attaque.  </a:t>
            </a:r>
            <a:r>
              <a:rPr sz="1600" b="1" i="0">
                <a:solidFill>
                  <a:srgbClr val="B45309"/>
                </a:solidFill>
                <a:latin typeface="Segoe UI"/>
              </a:rPr>
              <a:t>Résilience = encaisser et continuer.</a:t>
            </a:r>
          </a:p>
        </p:txBody>
      </p:sp>
      <p:sp>
        <p:nvSpPr>
          <p:cNvPr id="20" name="Rectangle 19"/>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ANSSI / ISO 27000 (triade CIA) · NIST Cybersecurity Framework 2.0,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05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PARTIE I · LA CYBERDÉFENSE AUGMENTÉE</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L'IA, </a:t>
            </a:r>
            <a:r>
              <a:rPr sz="3000" b="1" i="0">
                <a:solidFill>
                  <a:srgbClr val="2563EB"/>
                </a:solidFill>
                <a:latin typeface="Segoe UI"/>
              </a:rPr>
              <a:t>bouclier</a:t>
            </a:r>
            <a:r>
              <a:rPr sz="3000" b="1" i="0">
                <a:solidFill>
                  <a:srgbClr val="0F172A"/>
                </a:solidFill>
                <a:latin typeface="Segoe UI"/>
              </a:rPr>
              <a:t> : la valeur d'abord</a:t>
            </a:r>
          </a:p>
        </p:txBody>
      </p:sp>
      <p:sp>
        <p:nvSpPr>
          <p:cNvPr id="6" name="TextBox 5"/>
          <p:cNvSpPr txBox="1"/>
          <p:nvPr/>
        </p:nvSpPr>
        <p:spPr>
          <a:xfrm>
            <a:off x="502920" y="1828800"/>
            <a:ext cx="5577840" cy="4114800"/>
          </a:xfrm>
          <a:prstGeom prst="rect">
            <a:avLst/>
          </a:prstGeom>
          <a:noFill/>
        </p:spPr>
        <p:txBody>
          <a:bodyPr wrap="square" lIns="0" rIns="0" tIns="0" bIns="0">
            <a:spAutoFit/>
          </a:bodyPr>
          <a:lstStyle/>
          <a:p>
            <a:pPr>
              <a:lnSpc>
                <a:spcPct val="105000"/>
              </a:lnSpc>
              <a:spcAft>
                <a:spcPts val="1200"/>
              </a:spcAft>
            </a:pPr>
            <a:r>
              <a:rPr sz="1600" b="0" i="0">
                <a:solidFill>
                  <a:srgbClr val="334155"/>
                </a:solidFill>
                <a:latin typeface="Segoe UI"/>
              </a:rPr>
              <a:t>•  </a:t>
            </a:r>
            <a:r>
              <a:rPr sz="1600" b="1" i="0">
                <a:solidFill>
                  <a:srgbClr val="059669"/>
                </a:solidFill>
                <a:latin typeface="Segoe UI"/>
              </a:rPr>
              <a:t>− 1,9 M$</a:t>
            </a:r>
            <a:r>
              <a:rPr sz="1600" b="0" i="0">
                <a:solidFill>
                  <a:srgbClr val="334155"/>
                </a:solidFill>
                <a:latin typeface="Segoe UI"/>
              </a:rPr>
              <a:t> par violation · détection 80 j plus vite</a:t>
            </a:r>
          </a:p>
          <a:p>
            <a:pPr>
              <a:lnSpc>
                <a:spcPct val="105000"/>
              </a:lnSpc>
              <a:spcAft>
                <a:spcPts val="1200"/>
              </a:spcAft>
            </a:pPr>
            <a:r>
              <a:rPr sz="1600" b="0" i="0">
                <a:solidFill>
                  <a:srgbClr val="334155"/>
                </a:solidFill>
                <a:latin typeface="Segoe UI"/>
              </a:rPr>
              <a:t>•  </a:t>
            </a:r>
            <a:r>
              <a:rPr sz="1600" b="1" i="0">
                <a:solidFill>
                  <a:srgbClr val="B45309"/>
                </a:solidFill>
                <a:latin typeface="Segoe UI"/>
              </a:rPr>
              <a:t>Marché IA-cyber : 26 → 86 Md$</a:t>
            </a:r>
          </a:p>
          <a:p>
            <a:pPr>
              <a:spcBef>
                <a:spcPts val="0"/>
              </a:spcBef>
              <a:spcAft>
                <a:spcPts val="1000"/>
              </a:spcAft>
            </a:pPr>
            <a:r>
              <a:rPr sz="1600" b="1" i="0">
                <a:solidFill>
                  <a:srgbClr val="0F172A"/>
                </a:solidFill>
                <a:latin typeface="Segoe UI"/>
              </a:rPr>
              <a:t>Où l'IA agit dans le SOC</a:t>
            </a:r>
          </a:p>
          <a:p>
            <a:pPr>
              <a:lnSpc>
                <a:spcPct val="105000"/>
              </a:lnSpc>
              <a:spcAft>
                <a:spcPts val="900"/>
              </a:spcAft>
            </a:pPr>
            <a:r>
              <a:rPr sz="1500" b="0" i="0">
                <a:solidFill>
                  <a:srgbClr val="334155"/>
                </a:solidFill>
                <a:latin typeface="Segoe UI"/>
              </a:rPr>
              <a:t>•  </a:t>
            </a:r>
            <a:r>
              <a:rPr sz="1500" b="1" i="0">
                <a:solidFill>
                  <a:srgbClr val="2563EB"/>
                </a:solidFill>
                <a:latin typeface="Segoe UI"/>
              </a:rPr>
              <a:t>SIEM + UEBA</a:t>
            </a:r>
            <a:r>
              <a:rPr sz="1500" b="0" i="0">
                <a:solidFill>
                  <a:srgbClr val="334155"/>
                </a:solidFill>
                <a:latin typeface="Segoe UI"/>
              </a:rPr>
              <a:t> — détecter l'anomalie</a:t>
            </a:r>
          </a:p>
          <a:p>
            <a:pPr>
              <a:lnSpc>
                <a:spcPct val="105000"/>
              </a:lnSpc>
              <a:spcAft>
                <a:spcPts val="900"/>
              </a:spcAft>
            </a:pPr>
            <a:r>
              <a:rPr sz="1500" b="0" i="0">
                <a:solidFill>
                  <a:srgbClr val="334155"/>
                </a:solidFill>
                <a:latin typeface="Segoe UI"/>
              </a:rPr>
              <a:t>•  </a:t>
            </a:r>
            <a:r>
              <a:rPr sz="1500" b="1" i="0">
                <a:solidFill>
                  <a:srgbClr val="2563EB"/>
                </a:solidFill>
                <a:latin typeface="Segoe UI"/>
              </a:rPr>
              <a:t>SOAR</a:t>
            </a:r>
            <a:r>
              <a:rPr sz="1500" b="0" i="0">
                <a:solidFill>
                  <a:srgbClr val="334155"/>
                </a:solidFill>
                <a:latin typeface="Segoe UI"/>
              </a:rPr>
              <a:t> — automatiser la réponse</a:t>
            </a:r>
          </a:p>
          <a:p>
            <a:pPr>
              <a:lnSpc>
                <a:spcPct val="105000"/>
              </a:lnSpc>
              <a:spcAft>
                <a:spcPts val="900"/>
              </a:spcAft>
            </a:pPr>
            <a:r>
              <a:rPr sz="1500" b="0" i="0">
                <a:solidFill>
                  <a:srgbClr val="334155"/>
                </a:solidFill>
                <a:latin typeface="Segoe UI"/>
              </a:rPr>
              <a:t>•  </a:t>
            </a:r>
            <a:r>
              <a:rPr sz="1500" b="1" i="0">
                <a:solidFill>
                  <a:srgbClr val="2563EB"/>
                </a:solidFill>
                <a:latin typeface="Segoe UI"/>
              </a:rPr>
              <a:t>EDR / XDR</a:t>
            </a:r>
            <a:r>
              <a:rPr sz="1500" b="0" i="0">
                <a:solidFill>
                  <a:srgbClr val="334155"/>
                </a:solidFill>
                <a:latin typeface="Segoe UI"/>
              </a:rPr>
              <a:t> — postes · réseau · cloud</a:t>
            </a:r>
          </a:p>
        </p:txBody>
      </p:sp>
      <p:pic>
        <p:nvPicPr>
          <p:cNvPr id="7" name="Picture 6" descr="chart-02-cout-violation-ibm.png"/>
          <p:cNvPicPr>
            <a:picLocks noChangeAspect="1"/>
          </p:cNvPicPr>
          <p:nvPr/>
        </p:nvPicPr>
        <p:blipFill>
          <a:blip r:embed="rId2"/>
          <a:stretch>
            <a:fillRect/>
          </a:stretch>
        </p:blipFill>
        <p:spPr>
          <a:xfrm>
            <a:off x="6355080" y="2514600"/>
            <a:ext cx="5349240" cy="2256710"/>
          </a:xfrm>
          <a:prstGeom prst="rect">
            <a:avLst/>
          </a:prstGeom>
        </p:spPr>
      </p:pic>
      <p:sp>
        <p:nvSpPr>
          <p:cNvPr id="8" name="Rectangle 7"/>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IBM Cost of a Data Breach 2025 · Gartner / MarketsandMarkets.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06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TRANSITION · L'IA CHANGE DE CAMP</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Un outil n'a pas de </a:t>
            </a:r>
            <a:r>
              <a:rPr sz="3000" b="1" i="0">
                <a:solidFill>
                  <a:srgbClr val="B45309"/>
                </a:solidFill>
                <a:latin typeface="Segoe UI"/>
              </a:rPr>
              <a:t>camp</a:t>
            </a:r>
          </a:p>
        </p:txBody>
      </p:sp>
      <p:sp>
        <p:nvSpPr>
          <p:cNvPr id="6" name="Rounded Rectangle 5"/>
          <p:cNvSpPr/>
          <p:nvPr/>
        </p:nvSpPr>
        <p:spPr>
          <a:xfrm>
            <a:off x="502920" y="1572768"/>
            <a:ext cx="11183112" cy="749808"/>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72768"/>
            <a:ext cx="10607040" cy="749808"/>
          </a:xfrm>
          <a:prstGeom prst="rect">
            <a:avLst/>
          </a:prstGeom>
          <a:noFill/>
        </p:spPr>
        <p:txBody>
          <a:bodyPr wrap="square" lIns="0" rIns="0" tIns="0" bIns="0" anchor="ctr">
            <a:spAutoFit/>
          </a:bodyPr>
          <a:lstStyle/>
          <a:p>
            <a:pPr algn="ctr">
              <a:spcBef>
                <a:spcPts val="0"/>
              </a:spcBef>
              <a:spcAft>
                <a:spcPts val="0"/>
              </a:spcAft>
            </a:pPr>
            <a:r>
              <a:rPr sz="1900" b="1" i="0">
                <a:solidFill>
                  <a:srgbClr val="2563EB"/>
                </a:solidFill>
                <a:latin typeface="Segoe UI"/>
              </a:rPr>
              <a:t>DÉFENSE</a:t>
            </a:r>
            <a:r>
              <a:rPr sz="1900" b="0" i="0">
                <a:solidFill>
                  <a:srgbClr val="64748B"/>
                </a:solidFill>
                <a:latin typeface="Segoe UI"/>
              </a:rPr>
              <a:t>   ⟷   </a:t>
            </a:r>
            <a:r>
              <a:rPr sz="1900" b="1" i="0">
                <a:solidFill>
                  <a:srgbClr val="B45309"/>
                </a:solidFill>
                <a:latin typeface="Segoe UI"/>
              </a:rPr>
              <a:t>même machine learning</a:t>
            </a:r>
            <a:r>
              <a:rPr sz="1900" b="0" i="0">
                <a:solidFill>
                  <a:srgbClr val="64748B"/>
                </a:solidFill>
                <a:latin typeface="Segoe UI"/>
              </a:rPr>
              <a:t>   ⟷   </a:t>
            </a:r>
            <a:r>
              <a:rPr sz="1900" b="1" i="0">
                <a:solidFill>
                  <a:srgbClr val="DC2626"/>
                </a:solidFill>
                <a:latin typeface="Segoe UI"/>
              </a:rPr>
              <a:t>ATTAQUE</a:t>
            </a:r>
          </a:p>
        </p:txBody>
      </p:sp>
      <p:sp>
        <p:nvSpPr>
          <p:cNvPr id="8" name="TextBox 7"/>
          <p:cNvSpPr txBox="1"/>
          <p:nvPr/>
        </p:nvSpPr>
        <p:spPr>
          <a:xfrm>
            <a:off x="502920" y="2606040"/>
            <a:ext cx="2743200" cy="274320"/>
          </a:xfrm>
          <a:prstGeom prst="rect">
            <a:avLst/>
          </a:prstGeom>
          <a:noFill/>
        </p:spPr>
        <p:txBody>
          <a:bodyPr wrap="square" lIns="0" rIns="0" tIns="0" bIns="0">
            <a:spAutoFit/>
          </a:bodyPr>
          <a:lstStyle/>
          <a:p>
            <a:pPr>
              <a:spcBef>
                <a:spcPts val="0"/>
              </a:spcBef>
              <a:spcAft>
                <a:spcPts val="0"/>
              </a:spcAft>
            </a:pPr>
            <a:r>
              <a:rPr sz="1100" b="1" i="0">
                <a:solidFill>
                  <a:srgbClr val="2563EB"/>
                </a:solidFill>
                <a:latin typeface="Segoe UI"/>
              </a:rPr>
              <a:t>CÔTÉ DÉFENSE</a:t>
            </a:r>
          </a:p>
        </p:txBody>
      </p:sp>
      <p:sp>
        <p:nvSpPr>
          <p:cNvPr id="9" name="TextBox 8"/>
          <p:cNvSpPr txBox="1"/>
          <p:nvPr/>
        </p:nvSpPr>
        <p:spPr>
          <a:xfrm>
            <a:off x="3337560" y="2606040"/>
            <a:ext cx="2743200" cy="274320"/>
          </a:xfrm>
          <a:prstGeom prst="rect">
            <a:avLst/>
          </a:prstGeom>
          <a:noFill/>
        </p:spPr>
        <p:txBody>
          <a:bodyPr wrap="square" lIns="0" rIns="0" tIns="0" bIns="0">
            <a:spAutoFit/>
          </a:bodyPr>
          <a:lstStyle/>
          <a:p>
            <a:pPr>
              <a:spcBef>
                <a:spcPts val="0"/>
              </a:spcBef>
              <a:spcAft>
                <a:spcPts val="0"/>
              </a:spcAft>
            </a:pPr>
            <a:r>
              <a:rPr sz="1100" b="1" i="0">
                <a:solidFill>
                  <a:srgbClr val="DC2626"/>
                </a:solidFill>
                <a:latin typeface="Segoe UI"/>
              </a:rPr>
              <a:t>CÔTÉ ATTAQUE</a:t>
            </a:r>
          </a:p>
        </p:txBody>
      </p:sp>
      <p:sp>
        <p:nvSpPr>
          <p:cNvPr id="10" name="Rectangle 9"/>
          <p:cNvSpPr/>
          <p:nvPr/>
        </p:nvSpPr>
        <p:spPr>
          <a:xfrm>
            <a:off x="502920" y="2916936"/>
            <a:ext cx="5486400"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971800"/>
            <a:ext cx="2743200" cy="548640"/>
          </a:xfrm>
          <a:prstGeom prst="rect">
            <a:avLst/>
          </a:prstGeom>
          <a:noFill/>
        </p:spPr>
        <p:txBody>
          <a:bodyPr wrap="square" lIns="0" rIns="0" tIns="0" bIns="0" anchor="ctr">
            <a:spAutoFit/>
          </a:bodyPr>
          <a:lstStyle/>
          <a:p>
            <a:pPr>
              <a:spcBef>
                <a:spcPts val="0"/>
              </a:spcBef>
              <a:spcAft>
                <a:spcPts val="0"/>
              </a:spcAft>
            </a:pPr>
            <a:r>
              <a:rPr sz="1350" b="0" i="0">
                <a:solidFill>
                  <a:srgbClr val="334155"/>
                </a:solidFill>
                <a:latin typeface="Segoe UI"/>
              </a:rPr>
              <a:t>Détecter l'anomalie</a:t>
            </a:r>
          </a:p>
        </p:txBody>
      </p:sp>
      <p:sp>
        <p:nvSpPr>
          <p:cNvPr id="12" name="TextBox 11"/>
          <p:cNvSpPr txBox="1"/>
          <p:nvPr/>
        </p:nvSpPr>
        <p:spPr>
          <a:xfrm>
            <a:off x="3337560" y="2971800"/>
            <a:ext cx="2697480" cy="548640"/>
          </a:xfrm>
          <a:prstGeom prst="rect">
            <a:avLst/>
          </a:prstGeom>
          <a:noFill/>
        </p:spPr>
        <p:txBody>
          <a:bodyPr wrap="square" lIns="0" rIns="0" tIns="0" bIns="0" anchor="ctr">
            <a:spAutoFit/>
          </a:bodyPr>
          <a:lstStyle/>
          <a:p>
            <a:pPr>
              <a:spcBef>
                <a:spcPts val="0"/>
              </a:spcBef>
              <a:spcAft>
                <a:spcPts val="0"/>
              </a:spcAft>
            </a:pPr>
            <a:r>
              <a:rPr sz="1350" b="0" i="0">
                <a:solidFill>
                  <a:srgbClr val="334155"/>
                </a:solidFill>
                <a:latin typeface="Segoe UI"/>
              </a:rPr>
              <a:t>Contourner la détection</a:t>
            </a:r>
          </a:p>
        </p:txBody>
      </p:sp>
      <p:sp>
        <p:nvSpPr>
          <p:cNvPr id="13" name="Rectangle 12"/>
          <p:cNvSpPr/>
          <p:nvPr/>
        </p:nvSpPr>
        <p:spPr>
          <a:xfrm>
            <a:off x="502920" y="3520440"/>
            <a:ext cx="5486400"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575304"/>
            <a:ext cx="2743200" cy="548640"/>
          </a:xfrm>
          <a:prstGeom prst="rect">
            <a:avLst/>
          </a:prstGeom>
          <a:noFill/>
        </p:spPr>
        <p:txBody>
          <a:bodyPr wrap="square" lIns="0" rIns="0" tIns="0" bIns="0" anchor="ctr">
            <a:spAutoFit/>
          </a:bodyPr>
          <a:lstStyle/>
          <a:p>
            <a:pPr>
              <a:spcBef>
                <a:spcPts val="0"/>
              </a:spcBef>
              <a:spcAft>
                <a:spcPts val="0"/>
              </a:spcAft>
            </a:pPr>
            <a:r>
              <a:rPr sz="1350" b="0" i="0">
                <a:solidFill>
                  <a:srgbClr val="334155"/>
                </a:solidFill>
                <a:latin typeface="Segoe UI"/>
              </a:rPr>
              <a:t>Écrire des règles</a:t>
            </a:r>
          </a:p>
        </p:txBody>
      </p:sp>
      <p:sp>
        <p:nvSpPr>
          <p:cNvPr id="15" name="TextBox 14"/>
          <p:cNvSpPr txBox="1"/>
          <p:nvPr/>
        </p:nvSpPr>
        <p:spPr>
          <a:xfrm>
            <a:off x="3337560" y="3575304"/>
            <a:ext cx="2697480" cy="548640"/>
          </a:xfrm>
          <a:prstGeom prst="rect">
            <a:avLst/>
          </a:prstGeom>
          <a:noFill/>
        </p:spPr>
        <p:txBody>
          <a:bodyPr wrap="square" lIns="0" rIns="0" tIns="0" bIns="0" anchor="ctr">
            <a:spAutoFit/>
          </a:bodyPr>
          <a:lstStyle/>
          <a:p>
            <a:pPr>
              <a:spcBef>
                <a:spcPts val="0"/>
              </a:spcBef>
              <a:spcAft>
                <a:spcPts val="0"/>
              </a:spcAft>
            </a:pPr>
            <a:r>
              <a:rPr sz="1350" b="0" i="0">
                <a:solidFill>
                  <a:srgbClr val="334155"/>
                </a:solidFill>
                <a:latin typeface="Segoe UI"/>
              </a:rPr>
              <a:t>Écrire des phishing parfaits</a:t>
            </a:r>
          </a:p>
        </p:txBody>
      </p:sp>
      <p:sp>
        <p:nvSpPr>
          <p:cNvPr id="16" name="Rectangle 15"/>
          <p:cNvSpPr/>
          <p:nvPr/>
        </p:nvSpPr>
        <p:spPr>
          <a:xfrm>
            <a:off x="502920" y="4123944"/>
            <a:ext cx="5486400"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178808"/>
            <a:ext cx="2743200" cy="548640"/>
          </a:xfrm>
          <a:prstGeom prst="rect">
            <a:avLst/>
          </a:prstGeom>
          <a:noFill/>
        </p:spPr>
        <p:txBody>
          <a:bodyPr wrap="square" lIns="0" rIns="0" tIns="0" bIns="0" anchor="ctr">
            <a:spAutoFit/>
          </a:bodyPr>
          <a:lstStyle/>
          <a:p>
            <a:pPr>
              <a:spcBef>
                <a:spcPts val="0"/>
              </a:spcBef>
              <a:spcAft>
                <a:spcPts val="0"/>
              </a:spcAft>
            </a:pPr>
            <a:r>
              <a:rPr sz="1350" b="0" i="0">
                <a:solidFill>
                  <a:srgbClr val="334155"/>
                </a:solidFill>
                <a:latin typeface="Segoe UI"/>
              </a:rPr>
              <a:t>Automatiser la réponse</a:t>
            </a:r>
          </a:p>
        </p:txBody>
      </p:sp>
      <p:sp>
        <p:nvSpPr>
          <p:cNvPr id="18" name="TextBox 17"/>
          <p:cNvSpPr txBox="1"/>
          <p:nvPr/>
        </p:nvSpPr>
        <p:spPr>
          <a:xfrm>
            <a:off x="3337560" y="4178808"/>
            <a:ext cx="2697480" cy="548640"/>
          </a:xfrm>
          <a:prstGeom prst="rect">
            <a:avLst/>
          </a:prstGeom>
          <a:noFill/>
        </p:spPr>
        <p:txBody>
          <a:bodyPr wrap="square" lIns="0" rIns="0" tIns="0" bIns="0" anchor="ctr">
            <a:spAutoFit/>
          </a:bodyPr>
          <a:lstStyle/>
          <a:p>
            <a:pPr>
              <a:spcBef>
                <a:spcPts val="0"/>
              </a:spcBef>
              <a:spcAft>
                <a:spcPts val="0"/>
              </a:spcAft>
            </a:pPr>
            <a:r>
              <a:rPr sz="1350" b="0" i="0">
                <a:solidFill>
                  <a:srgbClr val="334155"/>
                </a:solidFill>
                <a:latin typeface="Segoe UI"/>
              </a:rPr>
              <a:t>Automatiser l'exploitation</a:t>
            </a:r>
          </a:p>
        </p:txBody>
      </p:sp>
      <p:sp>
        <p:nvSpPr>
          <p:cNvPr id="19" name="Rounded Rectangle 18"/>
          <p:cNvSpPr/>
          <p:nvPr/>
        </p:nvSpPr>
        <p:spPr>
          <a:xfrm>
            <a:off x="502920" y="4873752"/>
            <a:ext cx="5486400" cy="640080"/>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873752"/>
            <a:ext cx="5120640" cy="640080"/>
          </a:xfrm>
          <a:prstGeom prst="rect">
            <a:avLst/>
          </a:prstGeom>
          <a:noFill/>
        </p:spPr>
        <p:txBody>
          <a:bodyPr wrap="square" lIns="0" rIns="0" tIns="0" bIns="0" anchor="ctr">
            <a:spAutoFit/>
          </a:bodyPr>
          <a:lstStyle/>
          <a:p>
            <a:pPr>
              <a:spcBef>
                <a:spcPts val="0"/>
              </a:spcBef>
              <a:spcAft>
                <a:spcPts val="0"/>
              </a:spcAft>
            </a:pPr>
            <a:r>
              <a:rPr sz="1400" b="1" i="0">
                <a:solidFill>
                  <a:srgbClr val="0F172A"/>
                </a:solidFill>
                <a:latin typeface="Segoe UI"/>
              </a:rPr>
              <a:t>La barrière à l'entrée de la cybercriminalité s'effondre.</a:t>
            </a:r>
          </a:p>
        </p:txBody>
      </p:sp>
      <p:sp>
        <p:nvSpPr>
          <p:cNvPr id="21" name="Rounded Rectangle 20"/>
          <p:cNvSpPr/>
          <p:nvPr/>
        </p:nvSpPr>
        <p:spPr>
          <a:xfrm>
            <a:off x="6355080" y="2560320"/>
            <a:ext cx="5330952" cy="34290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datacenter.jpg"/>
          <p:cNvPicPr>
            <a:picLocks noChangeAspect="1"/>
          </p:cNvPicPr>
          <p:nvPr/>
        </p:nvPicPr>
        <p:blipFill>
          <a:blip r:embed="rId2"/>
          <a:srcRect t="16030" b="16030"/>
          <a:stretch>
            <a:fillRect/>
          </a:stretch>
        </p:blipFill>
        <p:spPr>
          <a:xfrm>
            <a:off x="6446520" y="2651760"/>
            <a:ext cx="5148072" cy="2331720"/>
          </a:xfrm>
          <a:prstGeom prst="rect">
            <a:avLst/>
          </a:prstGeom>
        </p:spPr>
      </p:pic>
      <p:sp>
        <p:nvSpPr>
          <p:cNvPr id="23" name="TextBox 22"/>
          <p:cNvSpPr txBox="1"/>
          <p:nvPr/>
        </p:nvSpPr>
        <p:spPr>
          <a:xfrm>
            <a:off x="6510528" y="5074920"/>
            <a:ext cx="5029200" cy="841248"/>
          </a:xfrm>
          <a:prstGeom prst="rect">
            <a:avLst/>
          </a:prstGeom>
          <a:noFill/>
        </p:spPr>
        <p:txBody>
          <a:bodyPr wrap="square" lIns="0" rIns="0" tIns="0" bIns="0">
            <a:spAutoFit/>
          </a:bodyPr>
          <a:lstStyle/>
          <a:p>
            <a:pPr>
              <a:spcBef>
                <a:spcPts val="0"/>
              </a:spcBef>
              <a:spcAft>
                <a:spcPts val="200"/>
              </a:spcAft>
            </a:pPr>
            <a:r>
              <a:rPr sz="1200" b="1" i="0">
                <a:solidFill>
                  <a:srgbClr val="0F172A"/>
                </a:solidFill>
                <a:latin typeface="Segoe UI"/>
              </a:rPr>
              <a:t>Le SI, au milieu — même infra, deux usages.</a:t>
            </a:r>
          </a:p>
          <a:p>
            <a:pPr>
              <a:lnSpc>
                <a:spcPct val="110000"/>
              </a:lnSpc>
              <a:spcBef>
                <a:spcPts val="0"/>
              </a:spcBef>
              <a:spcAft>
                <a:spcPts val="0"/>
              </a:spcAft>
            </a:pPr>
            <a:r>
              <a:rPr sz="1000" b="0" i="1">
                <a:solidFill>
                  <a:srgbClr val="64748B"/>
                </a:solidFill>
                <a:latin typeface="Segoe UI"/>
              </a:rPr>
              <a:t>Photo : CERN · CC BY-SA 3.0 (Wikimedia Commons)</a:t>
            </a:r>
          </a:p>
        </p:txBody>
      </p:sp>
      <p:sp>
        <p:nvSpPr>
          <p:cNvPr id="24" name="Rectangle 23"/>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Transition : du bouclier à l'épée.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07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PARTIE II · LE REVERS, EN DEUX VOLETS</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L'IA qui </a:t>
            </a:r>
            <a:r>
              <a:rPr sz="3000" b="1" i="0">
                <a:solidFill>
                  <a:srgbClr val="DC2626"/>
                </a:solidFill>
                <a:latin typeface="Segoe UI"/>
              </a:rPr>
              <a:t>attaque</a:t>
            </a:r>
            <a:r>
              <a:rPr sz="3000" b="1" i="0">
                <a:solidFill>
                  <a:srgbClr val="0F172A"/>
                </a:solidFill>
                <a:latin typeface="Segoe UI"/>
              </a:rPr>
              <a:t> — et l'IA qu'on </a:t>
            </a:r>
            <a:r>
              <a:rPr sz="3000" b="1" i="0">
                <a:solidFill>
                  <a:srgbClr val="DC2626"/>
                </a:solidFill>
                <a:latin typeface="Segoe UI"/>
              </a:rPr>
              <a:t>attaque</a:t>
            </a:r>
          </a:p>
        </p:txBody>
      </p:sp>
      <p:sp>
        <p:nvSpPr>
          <p:cNvPr id="6" name="Rounded Rectangle 5"/>
          <p:cNvSpPr/>
          <p:nvPr/>
        </p:nvSpPr>
        <p:spPr>
          <a:xfrm>
            <a:off x="10401883" y="548640"/>
            <a:ext cx="671500" cy="493776"/>
          </a:xfrm>
          <a:prstGeom prst="roundRect">
            <a:avLst>
              <a:gd name="adj" fmla="val 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nisa-logo.png"/>
          <p:cNvPicPr>
            <a:picLocks noChangeAspect="1"/>
          </p:cNvPicPr>
          <p:nvPr/>
        </p:nvPicPr>
        <p:blipFill>
          <a:blip r:embed="rId2"/>
          <a:stretch>
            <a:fillRect/>
          </a:stretch>
        </p:blipFill>
        <p:spPr>
          <a:xfrm>
            <a:off x="10456747" y="603504"/>
            <a:ext cx="561772" cy="384048"/>
          </a:xfrm>
          <a:prstGeom prst="rect">
            <a:avLst/>
          </a:prstGeom>
        </p:spPr>
      </p:pic>
      <p:sp>
        <p:nvSpPr>
          <p:cNvPr id="8" name="Rounded Rectangle 7"/>
          <p:cNvSpPr/>
          <p:nvPr/>
        </p:nvSpPr>
        <p:spPr>
          <a:xfrm>
            <a:off x="502920" y="1828800"/>
            <a:ext cx="5440680" cy="416052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4983480" cy="3657600"/>
          </a:xfrm>
          <a:prstGeom prst="rect">
            <a:avLst/>
          </a:prstGeom>
          <a:noFill/>
        </p:spPr>
        <p:txBody>
          <a:bodyPr wrap="square" lIns="0" rIns="0" tIns="0" bIns="0">
            <a:spAutoFit/>
          </a:bodyPr>
          <a:lstStyle/>
          <a:p>
            <a:pPr>
              <a:spcBef>
                <a:spcPts val="0"/>
              </a:spcBef>
              <a:spcAft>
                <a:spcPts val="1400"/>
              </a:spcAft>
            </a:pPr>
            <a:r>
              <a:rPr sz="1700" b="1" i="0">
                <a:solidFill>
                  <a:srgbClr val="DC2626"/>
                </a:solidFill>
                <a:latin typeface="Segoe UI"/>
              </a:rPr>
              <a:t>A · L'IA qui attaque</a:t>
            </a:r>
          </a:p>
          <a:p>
            <a:pPr>
              <a:lnSpc>
                <a:spcPct val="105000"/>
              </a:lnSpc>
              <a:spcAft>
                <a:spcPts val="1200"/>
              </a:spcAft>
            </a:pPr>
            <a:r>
              <a:rPr sz="1500" b="0" i="0">
                <a:solidFill>
                  <a:srgbClr val="334155"/>
                </a:solidFill>
                <a:latin typeface="Segoe UI"/>
              </a:rPr>
              <a:t>•  </a:t>
            </a:r>
            <a:r>
              <a:rPr sz="1500" b="1" i="0">
                <a:solidFill>
                  <a:srgbClr val="0F172A"/>
                </a:solidFill>
                <a:latin typeface="Segoe UI"/>
              </a:rPr>
              <a:t>Phishing IA</a:t>
            </a:r>
            <a:r>
              <a:rPr sz="1500" b="0" i="0">
                <a:solidFill>
                  <a:srgbClr val="334155"/>
                </a:solidFill>
                <a:latin typeface="Segoe UI"/>
              </a:rPr>
              <a:t> — 80 % des e-mails</a:t>
            </a:r>
          </a:p>
          <a:p>
            <a:pPr>
              <a:lnSpc>
                <a:spcPct val="105000"/>
              </a:lnSpc>
              <a:spcAft>
                <a:spcPts val="1200"/>
              </a:spcAft>
            </a:pPr>
            <a:r>
              <a:rPr sz="1500" b="0" i="0">
                <a:solidFill>
                  <a:srgbClr val="334155"/>
                </a:solidFill>
                <a:latin typeface="Segoe UI"/>
              </a:rPr>
              <a:t>•  </a:t>
            </a:r>
            <a:r>
              <a:rPr sz="1500" b="1" i="0">
                <a:solidFill>
                  <a:srgbClr val="0F172A"/>
                </a:solidFill>
                <a:latin typeface="Segoe UI"/>
              </a:rPr>
              <a:t>WormGPT · FraudGPT</a:t>
            </a:r>
            <a:r>
              <a:rPr sz="1500" b="0" i="0">
                <a:solidFill>
                  <a:srgbClr val="334155"/>
                </a:solidFill>
                <a:latin typeface="Segoe UI"/>
              </a:rPr>
              <a:t> (LLM du crime)</a:t>
            </a:r>
          </a:p>
          <a:p>
            <a:pPr>
              <a:lnSpc>
                <a:spcPct val="105000"/>
              </a:lnSpc>
              <a:spcAft>
                <a:spcPts val="1200"/>
              </a:spcAft>
            </a:pPr>
            <a:r>
              <a:rPr sz="1500" b="0" i="0">
                <a:solidFill>
                  <a:srgbClr val="334155"/>
                </a:solidFill>
                <a:latin typeface="Segoe UI"/>
              </a:rPr>
              <a:t>•  </a:t>
            </a:r>
            <a:r>
              <a:rPr sz="1500" b="1" i="0">
                <a:solidFill>
                  <a:srgbClr val="0F172A"/>
                </a:solidFill>
                <a:latin typeface="Segoe UI"/>
              </a:rPr>
              <a:t>Deepfakes</a:t>
            </a:r>
            <a:r>
              <a:rPr sz="1500" b="0" i="0">
                <a:solidFill>
                  <a:srgbClr val="334155"/>
                </a:solidFill>
                <a:latin typeface="Segoe UI"/>
              </a:rPr>
              <a:t> → Arup, 25,6 M$</a:t>
            </a:r>
          </a:p>
          <a:p>
            <a:pPr>
              <a:lnSpc>
                <a:spcPct val="105000"/>
              </a:lnSpc>
              <a:spcAft>
                <a:spcPts val="1200"/>
              </a:spcAft>
            </a:pPr>
            <a:r>
              <a:rPr sz="1500" b="0" i="0">
                <a:solidFill>
                  <a:srgbClr val="334155"/>
                </a:solidFill>
                <a:latin typeface="Segoe UI"/>
              </a:rPr>
              <a:t>•  </a:t>
            </a:r>
            <a:r>
              <a:rPr sz="1500" b="1" i="0">
                <a:solidFill>
                  <a:srgbClr val="0F172A"/>
                </a:solidFill>
                <a:latin typeface="Segoe UI"/>
              </a:rPr>
              <a:t>Reconnaissance &amp; code</a:t>
            </a:r>
          </a:p>
        </p:txBody>
      </p:sp>
      <p:sp>
        <p:nvSpPr>
          <p:cNvPr id="10" name="Rounded Rectangle 9"/>
          <p:cNvSpPr/>
          <p:nvPr/>
        </p:nvSpPr>
        <p:spPr>
          <a:xfrm>
            <a:off x="6245352" y="1828800"/>
            <a:ext cx="5440680" cy="416052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2103120"/>
            <a:ext cx="4983480" cy="3657600"/>
          </a:xfrm>
          <a:prstGeom prst="rect">
            <a:avLst/>
          </a:prstGeom>
          <a:noFill/>
        </p:spPr>
        <p:txBody>
          <a:bodyPr wrap="square" lIns="0" rIns="0" tIns="0" bIns="0">
            <a:spAutoFit/>
          </a:bodyPr>
          <a:lstStyle/>
          <a:p>
            <a:pPr>
              <a:spcBef>
                <a:spcPts val="0"/>
              </a:spcBef>
              <a:spcAft>
                <a:spcPts val="1400"/>
              </a:spcAft>
            </a:pPr>
            <a:r>
              <a:rPr sz="1700" b="1" i="0">
                <a:solidFill>
                  <a:srgbClr val="B45309"/>
                </a:solidFill>
                <a:latin typeface="Segoe UI"/>
              </a:rPr>
              <a:t>B · L'IA qu'on attaque</a:t>
            </a:r>
          </a:p>
          <a:p>
            <a:pPr>
              <a:lnSpc>
                <a:spcPct val="105000"/>
              </a:lnSpc>
              <a:spcAft>
                <a:spcPts val="1200"/>
              </a:spcAft>
            </a:pPr>
            <a:r>
              <a:rPr sz="1500" b="0" i="0">
                <a:solidFill>
                  <a:srgbClr val="334155"/>
                </a:solidFill>
                <a:latin typeface="Segoe UI"/>
              </a:rPr>
              <a:t>•  </a:t>
            </a:r>
            <a:r>
              <a:rPr sz="1500" b="1" i="0">
                <a:solidFill>
                  <a:srgbClr val="0F172A"/>
                </a:solidFill>
                <a:latin typeface="Segoe UI"/>
              </a:rPr>
              <a:t>Empoisonnement</a:t>
            </a:r>
            <a:r>
              <a:rPr sz="1500" b="0" i="0">
                <a:solidFill>
                  <a:srgbClr val="334155"/>
                </a:solidFill>
                <a:latin typeface="Segoe UI"/>
              </a:rPr>
              <a:t> des données</a:t>
            </a:r>
          </a:p>
          <a:p>
            <a:pPr>
              <a:lnSpc>
                <a:spcPct val="105000"/>
              </a:lnSpc>
              <a:spcAft>
                <a:spcPts val="1200"/>
              </a:spcAft>
            </a:pPr>
            <a:r>
              <a:rPr sz="1500" b="0" i="0">
                <a:solidFill>
                  <a:srgbClr val="334155"/>
                </a:solidFill>
                <a:latin typeface="Segoe UI"/>
              </a:rPr>
              <a:t>•  </a:t>
            </a:r>
            <a:r>
              <a:rPr sz="1500" b="1" i="0">
                <a:solidFill>
                  <a:srgbClr val="0F172A"/>
                </a:solidFill>
                <a:latin typeface="Segoe UI"/>
              </a:rPr>
              <a:t>Exemples adverses</a:t>
            </a:r>
          </a:p>
          <a:p>
            <a:pPr>
              <a:lnSpc>
                <a:spcPct val="105000"/>
              </a:lnSpc>
              <a:spcAft>
                <a:spcPts val="1200"/>
              </a:spcAft>
            </a:pPr>
            <a:r>
              <a:rPr sz="1500" b="0" i="0">
                <a:solidFill>
                  <a:srgbClr val="334155"/>
                </a:solidFill>
                <a:latin typeface="Segoe UI"/>
              </a:rPr>
              <a:t>•  </a:t>
            </a:r>
            <a:r>
              <a:rPr sz="1500" b="1" i="0">
                <a:solidFill>
                  <a:srgbClr val="0F172A"/>
                </a:solidFill>
                <a:latin typeface="Segoe UI"/>
              </a:rPr>
              <a:t>Injection de prompt</a:t>
            </a:r>
            <a:r>
              <a:rPr sz="1500" b="0" i="0">
                <a:solidFill>
                  <a:srgbClr val="334155"/>
                </a:solidFill>
                <a:latin typeface="Segoe UI"/>
              </a:rPr>
              <a:t> (OWASP LLM01)</a:t>
            </a:r>
          </a:p>
          <a:p>
            <a:pPr>
              <a:lnSpc>
                <a:spcPct val="105000"/>
              </a:lnSpc>
              <a:spcAft>
                <a:spcPts val="1200"/>
              </a:spcAft>
            </a:pPr>
            <a:r>
              <a:rPr sz="1500" b="0" i="0">
                <a:solidFill>
                  <a:srgbClr val="334155"/>
                </a:solidFill>
                <a:latin typeface="Segoe UI"/>
              </a:rPr>
              <a:t>•  </a:t>
            </a:r>
            <a:r>
              <a:rPr sz="1500" b="1" i="0">
                <a:solidFill>
                  <a:srgbClr val="0F172A"/>
                </a:solidFill>
                <a:latin typeface="Segoe UI"/>
              </a:rPr>
              <a:t>Shadow AI</a:t>
            </a:r>
            <a:r>
              <a:rPr sz="1500" b="0" i="0">
                <a:solidFill>
                  <a:srgbClr val="334155"/>
                </a:solidFill>
                <a:latin typeface="Segoe UI"/>
              </a:rPr>
              <a:t> — + 670 k$ / violation</a:t>
            </a:r>
          </a:p>
        </p:txBody>
      </p:sp>
      <p:sp>
        <p:nvSpPr>
          <p:cNvPr id="12" name="Rectangle 11"/>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ENISA 2025 · CNN / Fortune (Arup) · OWASP Top 10 LLM 2025 · MITRE ATLAS · IBM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08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LE CŒUR DU SUJET · PANORAMA DE LA MENACE 2025</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Les chiffres… et, séparément, les </a:t>
            </a:r>
            <a:r>
              <a:rPr sz="3000" b="1" i="0">
                <a:solidFill>
                  <a:srgbClr val="B45309"/>
                </a:solidFill>
                <a:latin typeface="Segoe UI"/>
              </a:rPr>
              <a:t>usages</a:t>
            </a:r>
          </a:p>
        </p:txBody>
      </p:sp>
      <p:sp>
        <p:nvSpPr>
          <p:cNvPr id="6" name="Rounded Rectangle 5"/>
          <p:cNvSpPr/>
          <p:nvPr/>
        </p:nvSpPr>
        <p:spPr>
          <a:xfrm>
            <a:off x="9651492" y="548640"/>
            <a:ext cx="1421891" cy="493776"/>
          </a:xfrm>
          <a:prstGeom prst="roundRect">
            <a:avLst>
              <a:gd name="adj" fmla="val 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nssi-logo.jpg"/>
          <p:cNvPicPr>
            <a:picLocks noChangeAspect="1"/>
          </p:cNvPicPr>
          <p:nvPr/>
        </p:nvPicPr>
        <p:blipFill>
          <a:blip r:embed="rId2"/>
          <a:stretch>
            <a:fillRect/>
          </a:stretch>
        </p:blipFill>
        <p:spPr>
          <a:xfrm>
            <a:off x="9706356" y="603504"/>
            <a:ext cx="1312164" cy="384048"/>
          </a:xfrm>
          <a:prstGeom prst="rect">
            <a:avLst/>
          </a:prstGeom>
        </p:spPr>
      </p:pic>
      <p:sp>
        <p:nvSpPr>
          <p:cNvPr id="8" name="TextBox 7"/>
          <p:cNvSpPr txBox="1"/>
          <p:nvPr/>
        </p:nvSpPr>
        <p:spPr>
          <a:xfrm>
            <a:off x="502920" y="2057400"/>
            <a:ext cx="5486400" cy="3931920"/>
          </a:xfrm>
          <a:prstGeom prst="rect">
            <a:avLst/>
          </a:prstGeom>
          <a:noFill/>
        </p:spPr>
        <p:txBody>
          <a:bodyPr wrap="square" lIns="0" rIns="0" tIns="0" bIns="0">
            <a:spAutoFit/>
          </a:bodyPr>
          <a:lstStyle/>
          <a:p>
            <a:pPr>
              <a:spcBef>
                <a:spcPts val="0"/>
              </a:spcBef>
              <a:spcAft>
                <a:spcPts val="1200"/>
              </a:spcAft>
            </a:pPr>
            <a:r>
              <a:rPr sz="1600" b="1" i="0">
                <a:solidFill>
                  <a:srgbClr val="2563EB"/>
                </a:solidFill>
                <a:latin typeface="Segoe UI"/>
              </a:rPr>
              <a:t>📊  Les volumes</a:t>
            </a:r>
          </a:p>
          <a:p>
            <a:pPr>
              <a:lnSpc>
                <a:spcPct val="105000"/>
              </a:lnSpc>
              <a:spcAft>
                <a:spcPts val="1000"/>
              </a:spcAft>
            </a:pPr>
            <a:r>
              <a:rPr sz="1550" b="0" i="0">
                <a:solidFill>
                  <a:srgbClr val="334155"/>
                </a:solidFill>
                <a:latin typeface="Segoe UI"/>
              </a:rPr>
              <a:t>•  </a:t>
            </a:r>
            <a:r>
              <a:rPr sz="1550" b="1" i="0">
                <a:solidFill>
                  <a:srgbClr val="0F172A"/>
                </a:solidFill>
                <a:latin typeface="Segoe UI"/>
              </a:rPr>
              <a:t>1 366</a:t>
            </a:r>
            <a:r>
              <a:rPr sz="1550" b="0" i="0">
                <a:solidFill>
                  <a:srgbClr val="334155"/>
                </a:solidFill>
                <a:latin typeface="Segoe UI"/>
              </a:rPr>
              <a:t> incidents ANSSI (France, 2025)</a:t>
            </a:r>
          </a:p>
          <a:p>
            <a:pPr>
              <a:lnSpc>
                <a:spcPct val="105000"/>
              </a:lnSpc>
              <a:spcAft>
                <a:spcPts val="1000"/>
              </a:spcAft>
            </a:pPr>
            <a:r>
              <a:rPr sz="1550" b="0" i="0">
                <a:solidFill>
                  <a:srgbClr val="334155"/>
                </a:solidFill>
                <a:latin typeface="Segoe UI"/>
              </a:rPr>
              <a:t>•  </a:t>
            </a:r>
            <a:r>
              <a:rPr sz="1550" b="1" i="0">
                <a:solidFill>
                  <a:srgbClr val="0F172A"/>
                </a:solidFill>
                <a:latin typeface="Segoe UI"/>
              </a:rPr>
              <a:t>128</a:t>
            </a:r>
            <a:r>
              <a:rPr sz="1550" b="0" i="0">
                <a:solidFill>
                  <a:srgbClr val="334155"/>
                </a:solidFill>
                <a:latin typeface="Segoe UI"/>
              </a:rPr>
              <a:t> rançongiciels · </a:t>
            </a:r>
            <a:r>
              <a:rPr sz="1550" b="1" i="0">
                <a:solidFill>
                  <a:srgbClr val="0F172A"/>
                </a:solidFill>
                <a:latin typeface="Segoe UI"/>
              </a:rPr>
              <a:t>196</a:t>
            </a:r>
            <a:r>
              <a:rPr sz="1550" b="0" i="0">
                <a:solidFill>
                  <a:srgbClr val="334155"/>
                </a:solidFill>
                <a:latin typeface="Segoe UI"/>
              </a:rPr>
              <a:t> exfiltrations</a:t>
            </a:r>
          </a:p>
          <a:p>
            <a:pPr>
              <a:lnSpc>
                <a:spcPct val="105000"/>
              </a:lnSpc>
              <a:spcAft>
                <a:spcPts val="1000"/>
              </a:spcAft>
            </a:pPr>
            <a:r>
              <a:rPr sz="1550" b="0" i="0">
                <a:solidFill>
                  <a:srgbClr val="334155"/>
                </a:solidFill>
                <a:latin typeface="Segoe UI"/>
              </a:rPr>
              <a:t>•  </a:t>
            </a:r>
            <a:r>
              <a:rPr sz="1550" b="1" i="0">
                <a:solidFill>
                  <a:srgbClr val="0F172A"/>
                </a:solidFill>
                <a:latin typeface="Segoe UI"/>
              </a:rPr>
              <a:t>4 875</a:t>
            </a:r>
            <a:r>
              <a:rPr sz="1550" b="0" i="0">
                <a:solidFill>
                  <a:srgbClr val="334155"/>
                </a:solidFill>
                <a:latin typeface="Segoe UI"/>
              </a:rPr>
              <a:t> incidents analysés (ENISA)</a:t>
            </a:r>
          </a:p>
          <a:p>
            <a:pPr>
              <a:spcBef>
                <a:spcPts val="0"/>
              </a:spcBef>
              <a:spcAft>
                <a:spcPts val="1200"/>
              </a:spcAft>
            </a:pPr>
            <a:r>
              <a:rPr sz="1600" b="1" i="0">
                <a:solidFill>
                  <a:srgbClr val="DC2626"/>
                </a:solidFill>
                <a:latin typeface="Segoe UI"/>
              </a:rPr>
              <a:t>🎯  Les usages structurants</a:t>
            </a:r>
          </a:p>
          <a:p>
            <a:pPr>
              <a:lnSpc>
                <a:spcPct val="105000"/>
              </a:lnSpc>
              <a:spcAft>
                <a:spcPts val="1000"/>
              </a:spcAft>
            </a:pPr>
            <a:r>
              <a:rPr sz="1550" b="0" i="0">
                <a:solidFill>
                  <a:srgbClr val="334155"/>
                </a:solidFill>
                <a:latin typeface="Segoe UI"/>
              </a:rPr>
              <a:t>•  </a:t>
            </a:r>
            <a:r>
              <a:rPr sz="1550" b="1" i="0">
                <a:solidFill>
                  <a:srgbClr val="0F172A"/>
                </a:solidFill>
                <a:latin typeface="Segoe UI"/>
              </a:rPr>
              <a:t>80 %+</a:t>
            </a:r>
            <a:r>
              <a:rPr sz="1550" b="0" i="0">
                <a:solidFill>
                  <a:srgbClr val="334155"/>
                </a:solidFill>
                <a:latin typeface="Segoe UI"/>
              </a:rPr>
              <a:t> du phishing dopé à l'IA</a:t>
            </a:r>
          </a:p>
          <a:p>
            <a:pPr>
              <a:lnSpc>
                <a:spcPct val="105000"/>
              </a:lnSpc>
              <a:spcAft>
                <a:spcPts val="1000"/>
              </a:spcAft>
            </a:pPr>
            <a:r>
              <a:rPr sz="1550" b="0" i="0">
                <a:solidFill>
                  <a:srgbClr val="334155"/>
                </a:solidFill>
                <a:latin typeface="Segoe UI"/>
              </a:rPr>
              <a:t>•  </a:t>
            </a:r>
            <a:r>
              <a:rPr sz="1550" b="1" i="0">
                <a:solidFill>
                  <a:srgbClr val="0F172A"/>
                </a:solidFill>
                <a:latin typeface="Segoe UI"/>
              </a:rPr>
              <a:t>48 %</a:t>
            </a:r>
            <a:r>
              <a:rPr sz="1550" b="0" i="0">
                <a:solidFill>
                  <a:srgbClr val="334155"/>
                </a:solidFill>
                <a:latin typeface="Segoe UI"/>
              </a:rPr>
              <a:t> des victimes = PME / TPE / ETI</a:t>
            </a:r>
          </a:p>
          <a:p>
            <a:pPr>
              <a:lnSpc>
                <a:spcPct val="105000"/>
              </a:lnSpc>
              <a:spcAft>
                <a:spcPts val="1000"/>
              </a:spcAft>
            </a:pPr>
            <a:r>
              <a:rPr sz="1550" b="0" i="0">
                <a:solidFill>
                  <a:srgbClr val="334155"/>
                </a:solidFill>
                <a:latin typeface="Segoe UI"/>
              </a:rPr>
              <a:t>•  </a:t>
            </a:r>
            <a:r>
              <a:rPr sz="1550" b="1" i="0">
                <a:solidFill>
                  <a:srgbClr val="0F172A"/>
                </a:solidFill>
                <a:latin typeface="Segoe UI"/>
              </a:rPr>
              <a:t>Brouillage</a:t>
            </a:r>
            <a:r>
              <a:rPr sz="1550" b="0" i="0">
                <a:solidFill>
                  <a:srgbClr val="334155"/>
                </a:solidFill>
                <a:latin typeface="Segoe UI"/>
              </a:rPr>
              <a:t> États ⟷ cybercriminels</a:t>
            </a:r>
          </a:p>
        </p:txBody>
      </p:sp>
      <p:pic>
        <p:nvPicPr>
          <p:cNvPr id="9" name="Picture 8" descr="chart-03-menace-secteurs.png"/>
          <p:cNvPicPr>
            <a:picLocks noChangeAspect="1"/>
          </p:cNvPicPr>
          <p:nvPr/>
        </p:nvPicPr>
        <p:blipFill>
          <a:blip r:embed="rId3"/>
          <a:stretch>
            <a:fillRect/>
          </a:stretch>
        </p:blipFill>
        <p:spPr>
          <a:xfrm>
            <a:off x="6355080" y="2286000"/>
            <a:ext cx="5349240" cy="2256710"/>
          </a:xfrm>
          <a:prstGeom prst="rect">
            <a:avLst/>
          </a:prstGeom>
        </p:spPr>
      </p:pic>
      <p:sp>
        <p:nvSpPr>
          <p:cNvPr id="10" name="Rectangle 9"/>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ANSSI — Panorama de la cybermenace 2025 · ENISA — Threat Landscape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09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PARTIE III · LA RÉSILIENCE DEVIENT UNE OBLIGATION</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Bâtir la résilience — le </a:t>
            </a:r>
            <a:r>
              <a:rPr sz="3000" b="1" i="0">
                <a:solidFill>
                  <a:srgbClr val="2563EB"/>
                </a:solidFill>
                <a:latin typeface="Segoe UI"/>
              </a:rPr>
              <a:t>cadre réglementaire</a:t>
            </a:r>
          </a:p>
        </p:txBody>
      </p:sp>
      <p:sp>
        <p:nvSpPr>
          <p:cNvPr id="6" name="Rounded Rectangle 5"/>
          <p:cNvSpPr/>
          <p:nvPr/>
        </p:nvSpPr>
        <p:spPr>
          <a:xfrm>
            <a:off x="10387584" y="548640"/>
            <a:ext cx="685800" cy="493776"/>
          </a:xfrm>
          <a:prstGeom prst="roundRect">
            <a:avLst>
              <a:gd name="adj" fmla="val 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u-flag.png"/>
          <p:cNvPicPr>
            <a:picLocks noChangeAspect="1"/>
          </p:cNvPicPr>
          <p:nvPr/>
        </p:nvPicPr>
        <p:blipFill>
          <a:blip r:embed="rId2"/>
          <a:stretch>
            <a:fillRect/>
          </a:stretch>
        </p:blipFill>
        <p:spPr>
          <a:xfrm>
            <a:off x="10442448" y="603504"/>
            <a:ext cx="576072" cy="384048"/>
          </a:xfrm>
          <a:prstGeom prst="rect">
            <a:avLst/>
          </a:prstGeom>
        </p:spPr>
      </p:pic>
      <p:sp>
        <p:nvSpPr>
          <p:cNvPr id="8" name="Rounded Rectangle 7"/>
          <p:cNvSpPr/>
          <p:nvPr/>
        </p:nvSpPr>
        <p:spPr>
          <a:xfrm>
            <a:off x="502920" y="1828800"/>
            <a:ext cx="5440680" cy="3017520"/>
          </a:xfrm>
          <a:prstGeom prst="roundRect">
            <a:avLst>
              <a:gd name="adj" fmla="val 6000"/>
            </a:avLst>
          </a:prstGeom>
          <a:solidFill>
            <a:srgbClr val="EFF6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84831"/>
            <a:ext cx="4983480" cy="2651760"/>
          </a:xfrm>
          <a:prstGeom prst="rect">
            <a:avLst/>
          </a:prstGeom>
          <a:noFill/>
        </p:spPr>
        <p:txBody>
          <a:bodyPr wrap="square" lIns="0" rIns="0" tIns="0" bIns="0">
            <a:spAutoFit/>
          </a:bodyPr>
          <a:lstStyle/>
          <a:p>
            <a:pPr>
              <a:spcBef>
                <a:spcPts val="0"/>
              </a:spcBef>
              <a:spcAft>
                <a:spcPts val="1200"/>
              </a:spcAft>
            </a:pPr>
            <a:r>
              <a:rPr sz="1600" b="1" i="0">
                <a:solidFill>
                  <a:srgbClr val="2563EB"/>
                </a:solidFill>
                <a:latin typeface="Segoe UI"/>
              </a:rPr>
              <a:t>NIS2 — tout l'écosystème</a:t>
            </a:r>
          </a:p>
          <a:p>
            <a:pPr>
              <a:lnSpc>
                <a:spcPct val="105000"/>
              </a:lnSpc>
              <a:spcAft>
                <a:spcPts val="1100"/>
              </a:spcAft>
            </a:pPr>
            <a:r>
              <a:rPr sz="1450" b="0" i="0">
                <a:solidFill>
                  <a:srgbClr val="334155"/>
                </a:solidFill>
                <a:latin typeface="Segoe UI"/>
              </a:rPr>
              <a:t>•  </a:t>
            </a:r>
            <a:r>
              <a:rPr sz="1450" b="1" i="0">
                <a:solidFill>
                  <a:srgbClr val="0F172A"/>
                </a:solidFill>
                <a:latin typeface="Segoe UI"/>
              </a:rPr>
              <a:t>Entités essentielles &amp; importantes</a:t>
            </a:r>
          </a:p>
          <a:p>
            <a:pPr>
              <a:lnSpc>
                <a:spcPct val="105000"/>
              </a:lnSpc>
              <a:spcAft>
                <a:spcPts val="1100"/>
              </a:spcAft>
            </a:pPr>
            <a:r>
              <a:rPr sz="1450" b="0" i="0">
                <a:solidFill>
                  <a:srgbClr val="334155"/>
                </a:solidFill>
                <a:latin typeface="Segoe UI"/>
              </a:rPr>
              <a:t>•  </a:t>
            </a:r>
            <a:r>
              <a:rPr sz="1450" b="1" i="0">
                <a:solidFill>
                  <a:srgbClr val="0F172A"/>
                </a:solidFill>
                <a:latin typeface="Segoe UI"/>
              </a:rPr>
              <a:t>Mesures techniques + organisationnelles</a:t>
            </a:r>
          </a:p>
          <a:p>
            <a:pPr>
              <a:lnSpc>
                <a:spcPct val="105000"/>
              </a:lnSpc>
              <a:spcAft>
                <a:spcPts val="1100"/>
              </a:spcAft>
            </a:pPr>
            <a:r>
              <a:rPr sz="1450" b="0" i="0">
                <a:solidFill>
                  <a:srgbClr val="334155"/>
                </a:solidFill>
                <a:latin typeface="Segoe UI"/>
              </a:rPr>
              <a:t>•  </a:t>
            </a:r>
            <a:r>
              <a:rPr sz="1450" b="1" i="0">
                <a:solidFill>
                  <a:srgbClr val="0F172A"/>
                </a:solidFill>
                <a:latin typeface="Segoe UI"/>
              </a:rPr>
              <a:t>Notification 24 h / 72 h / 30 j</a:t>
            </a:r>
          </a:p>
          <a:p>
            <a:pPr>
              <a:lnSpc>
                <a:spcPct val="105000"/>
              </a:lnSpc>
              <a:spcAft>
                <a:spcPts val="1100"/>
              </a:spcAft>
            </a:pPr>
            <a:r>
              <a:rPr sz="1450" b="0" i="0">
                <a:solidFill>
                  <a:srgbClr val="334155"/>
                </a:solidFill>
                <a:latin typeface="Segoe UI"/>
              </a:rPr>
              <a:t>•  </a:t>
            </a:r>
            <a:r>
              <a:rPr sz="1450" b="1" i="0">
                <a:solidFill>
                  <a:srgbClr val="0F172A"/>
                </a:solidFill>
                <a:latin typeface="Segoe UI"/>
              </a:rPr>
              <a:t>10 M€ / 2 % CA · dirigeants responsables</a:t>
            </a:r>
          </a:p>
        </p:txBody>
      </p:sp>
      <p:sp>
        <p:nvSpPr>
          <p:cNvPr id="10" name="Rounded Rectangle 9"/>
          <p:cNvSpPr/>
          <p:nvPr/>
        </p:nvSpPr>
        <p:spPr>
          <a:xfrm>
            <a:off x="6245352" y="1828800"/>
            <a:ext cx="5440680" cy="3017520"/>
          </a:xfrm>
          <a:prstGeom prst="roundRect">
            <a:avLst>
              <a:gd name="adj" fmla="val 6000"/>
            </a:avLst>
          </a:prstGeom>
          <a:solidFill>
            <a:srgbClr val="ECFDF5"/>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2084831"/>
            <a:ext cx="4983480" cy="2651760"/>
          </a:xfrm>
          <a:prstGeom prst="rect">
            <a:avLst/>
          </a:prstGeom>
          <a:noFill/>
        </p:spPr>
        <p:txBody>
          <a:bodyPr wrap="square" lIns="0" rIns="0" tIns="0" bIns="0">
            <a:spAutoFit/>
          </a:bodyPr>
          <a:lstStyle/>
          <a:p>
            <a:pPr>
              <a:spcBef>
                <a:spcPts val="0"/>
              </a:spcBef>
              <a:spcAft>
                <a:spcPts val="1200"/>
              </a:spcAft>
            </a:pPr>
            <a:r>
              <a:rPr sz="1600" b="1" i="0">
                <a:solidFill>
                  <a:srgbClr val="059669"/>
                </a:solidFill>
                <a:latin typeface="Segoe UI"/>
              </a:rPr>
              <a:t>DORA — la finance</a:t>
            </a:r>
          </a:p>
          <a:p>
            <a:pPr>
              <a:lnSpc>
                <a:spcPct val="105000"/>
              </a:lnSpc>
              <a:spcAft>
                <a:spcPts val="1100"/>
              </a:spcAft>
            </a:pPr>
            <a:r>
              <a:rPr sz="1450" b="0" i="0">
                <a:solidFill>
                  <a:srgbClr val="334155"/>
                </a:solidFill>
                <a:latin typeface="Segoe UI"/>
              </a:rPr>
              <a:t>•  </a:t>
            </a:r>
            <a:r>
              <a:rPr sz="1450" b="1" i="0">
                <a:solidFill>
                  <a:srgbClr val="0F172A"/>
                </a:solidFill>
                <a:latin typeface="Segoe UI"/>
              </a:rPr>
              <a:t>Depuis le 17/01/2025 · &gt; 22 000 entités</a:t>
            </a:r>
          </a:p>
          <a:p>
            <a:pPr>
              <a:lnSpc>
                <a:spcPct val="105000"/>
              </a:lnSpc>
              <a:spcAft>
                <a:spcPts val="1100"/>
              </a:spcAft>
            </a:pPr>
            <a:r>
              <a:rPr sz="1450" b="0" i="0">
                <a:solidFill>
                  <a:srgbClr val="334155"/>
                </a:solidFill>
                <a:latin typeface="Segoe UI"/>
              </a:rPr>
              <a:t>•  </a:t>
            </a:r>
            <a:r>
              <a:rPr sz="1450" b="1" i="0">
                <a:solidFill>
                  <a:srgbClr val="0F172A"/>
                </a:solidFill>
                <a:latin typeface="Segoe UI"/>
              </a:rPr>
              <a:t>Tests de résilience obligatoires</a:t>
            </a:r>
          </a:p>
          <a:p>
            <a:pPr>
              <a:lnSpc>
                <a:spcPct val="105000"/>
              </a:lnSpc>
              <a:spcAft>
                <a:spcPts val="1100"/>
              </a:spcAft>
            </a:pPr>
            <a:r>
              <a:rPr sz="1450" b="0" i="0">
                <a:solidFill>
                  <a:srgbClr val="334155"/>
                </a:solidFill>
                <a:latin typeface="Segoe UI"/>
              </a:rPr>
              <a:t>•  </a:t>
            </a:r>
            <a:r>
              <a:rPr sz="1450" b="1" i="0">
                <a:solidFill>
                  <a:srgbClr val="0F172A"/>
                </a:solidFill>
                <a:latin typeface="Segoe UI"/>
              </a:rPr>
              <a:t>Supervision des prestataires TIC</a:t>
            </a:r>
          </a:p>
          <a:p>
            <a:pPr>
              <a:lnSpc>
                <a:spcPct val="105000"/>
              </a:lnSpc>
              <a:spcAft>
                <a:spcPts val="1100"/>
              </a:spcAft>
            </a:pPr>
            <a:r>
              <a:rPr sz="1450" b="0" i="0">
                <a:solidFill>
                  <a:srgbClr val="334155"/>
                </a:solidFill>
                <a:latin typeface="Segoe UI"/>
              </a:rPr>
              <a:t>•  </a:t>
            </a:r>
            <a:r>
              <a:rPr sz="1450" b="1" i="0">
                <a:solidFill>
                  <a:srgbClr val="0F172A"/>
                </a:solidFill>
                <a:latin typeface="Segoe UI"/>
              </a:rPr>
              <a:t>Incident majeur notifié en 4 h</a:t>
            </a:r>
          </a:p>
        </p:txBody>
      </p:sp>
      <p:sp>
        <p:nvSpPr>
          <p:cNvPr id="12" name="Rounded Rectangle 11"/>
          <p:cNvSpPr/>
          <p:nvPr/>
        </p:nvSpPr>
        <p:spPr>
          <a:xfrm>
            <a:off x="502920" y="5074920"/>
            <a:ext cx="11183112" cy="914400"/>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074920"/>
            <a:ext cx="10607040" cy="914400"/>
          </a:xfrm>
          <a:prstGeom prst="rect">
            <a:avLst/>
          </a:prstGeom>
          <a:noFill/>
        </p:spPr>
        <p:txBody>
          <a:bodyPr wrap="square" lIns="0" rIns="0" tIns="0" bIns="0" anchor="ctr">
            <a:spAutoFit/>
          </a:bodyPr>
          <a:lstStyle/>
          <a:p>
            <a:pPr>
              <a:spcBef>
                <a:spcPts val="0"/>
              </a:spcBef>
              <a:spcAft>
                <a:spcPts val="0"/>
              </a:spcAft>
            </a:pPr>
            <a:r>
              <a:rPr sz="1600" b="0" i="1">
                <a:solidFill>
                  <a:srgbClr val="0F172A"/>
                </a:solidFill>
                <a:latin typeface="Segoe UI"/>
              </a:rPr>
              <a:t>On n'exige plus seulement d'</a:t>
            </a:r>
            <a:r>
              <a:rPr sz="1600" b="1" i="1">
                <a:solidFill>
                  <a:srgbClr val="0F172A"/>
                </a:solidFill>
                <a:latin typeface="Segoe UI"/>
              </a:rPr>
              <a:t>empêcher</a:t>
            </a:r>
            <a:r>
              <a:rPr sz="1600" b="0" i="1">
                <a:solidFill>
                  <a:srgbClr val="0F172A"/>
                </a:solidFill>
                <a:latin typeface="Segoe UI"/>
              </a:rPr>
              <a:t>, mais de pouvoir </a:t>
            </a:r>
            <a:r>
              <a:rPr sz="1600" b="1" i="1">
                <a:solidFill>
                  <a:srgbClr val="B45309"/>
                </a:solidFill>
                <a:latin typeface="Segoe UI"/>
              </a:rPr>
              <a:t>encaisser et se rétablir</a:t>
            </a:r>
            <a:r>
              <a:rPr sz="1600" b="0" i="1">
                <a:solidFill>
                  <a:srgbClr val="0F172A"/>
                </a:solidFill>
                <a:latin typeface="Segoe UI"/>
              </a:rPr>
              <a:t>.</a:t>
            </a:r>
          </a:p>
        </p:txBody>
      </p:sp>
      <p:sp>
        <p:nvSpPr>
          <p:cNvPr id="14" name="Rectangle 13"/>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Directive NIS2 (cyber.gouv.fr) · Règlement DORA (ACPR / Banque de France · ESMA).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10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SÉCURISER L'IA ELLE-MÊME</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L'</a:t>
            </a:r>
            <a:r>
              <a:rPr sz="3000" b="1" i="0">
                <a:solidFill>
                  <a:srgbClr val="2563EB"/>
                </a:solidFill>
                <a:latin typeface="Segoe UI"/>
              </a:rPr>
              <a:t>AI Act</a:t>
            </a:r>
            <a:r>
              <a:rPr sz="3000" b="1" i="0">
                <a:solidFill>
                  <a:srgbClr val="0F172A"/>
                </a:solidFill>
                <a:latin typeface="Segoe UI"/>
              </a:rPr>
              <a:t> répond aux attaques de la Partie II</a:t>
            </a:r>
          </a:p>
        </p:txBody>
      </p:sp>
      <p:sp>
        <p:nvSpPr>
          <p:cNvPr id="6" name="Rounded Rectangle 5"/>
          <p:cNvSpPr/>
          <p:nvPr/>
        </p:nvSpPr>
        <p:spPr>
          <a:xfrm>
            <a:off x="9539955" y="548640"/>
            <a:ext cx="685800" cy="493776"/>
          </a:xfrm>
          <a:prstGeom prst="roundRect">
            <a:avLst>
              <a:gd name="adj" fmla="val 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u-flag.png"/>
          <p:cNvPicPr>
            <a:picLocks noChangeAspect="1"/>
          </p:cNvPicPr>
          <p:nvPr/>
        </p:nvPicPr>
        <p:blipFill>
          <a:blip r:embed="rId2"/>
          <a:stretch>
            <a:fillRect/>
          </a:stretch>
        </p:blipFill>
        <p:spPr>
          <a:xfrm>
            <a:off x="9594819" y="603504"/>
            <a:ext cx="576072" cy="384048"/>
          </a:xfrm>
          <a:prstGeom prst="rect">
            <a:avLst/>
          </a:prstGeom>
        </p:spPr>
      </p:pic>
      <p:sp>
        <p:nvSpPr>
          <p:cNvPr id="8" name="Rounded Rectangle 7"/>
          <p:cNvSpPr/>
          <p:nvPr/>
        </p:nvSpPr>
        <p:spPr>
          <a:xfrm>
            <a:off x="10225755" y="548640"/>
            <a:ext cx="847628" cy="493776"/>
          </a:xfrm>
          <a:prstGeom prst="roundRect">
            <a:avLst>
              <a:gd name="adj" fmla="val 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nil-logo.png"/>
          <p:cNvPicPr>
            <a:picLocks noChangeAspect="1"/>
          </p:cNvPicPr>
          <p:nvPr/>
        </p:nvPicPr>
        <p:blipFill>
          <a:blip r:embed="rId3"/>
          <a:stretch>
            <a:fillRect/>
          </a:stretch>
        </p:blipFill>
        <p:spPr>
          <a:xfrm>
            <a:off x="10280619" y="603504"/>
            <a:ext cx="737901" cy="384048"/>
          </a:xfrm>
          <a:prstGeom prst="rect">
            <a:avLst/>
          </a:prstGeom>
        </p:spPr>
      </p:pic>
      <p:pic>
        <p:nvPicPr>
          <p:cNvPr id="10" name="Picture 9" descr="chart-04-reglementation-timeline.png"/>
          <p:cNvPicPr>
            <a:picLocks noChangeAspect="1"/>
          </p:cNvPicPr>
          <p:nvPr/>
        </p:nvPicPr>
        <p:blipFill>
          <a:blip r:embed="rId4"/>
          <a:stretch>
            <a:fillRect/>
          </a:stretch>
        </p:blipFill>
        <p:spPr>
          <a:xfrm>
            <a:off x="2103120" y="1417320"/>
            <a:ext cx="7955279" cy="3356133"/>
          </a:xfrm>
          <a:prstGeom prst="rect">
            <a:avLst/>
          </a:prstGeom>
        </p:spPr>
      </p:pic>
      <p:sp>
        <p:nvSpPr>
          <p:cNvPr id="11" name="Rounded Rectangle 10"/>
          <p:cNvSpPr/>
          <p:nvPr/>
        </p:nvSpPr>
        <p:spPr>
          <a:xfrm>
            <a:off x="502920" y="4892040"/>
            <a:ext cx="3538728" cy="141732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038344"/>
            <a:ext cx="3136392" cy="1143000"/>
          </a:xfrm>
          <a:prstGeom prst="rect">
            <a:avLst/>
          </a:prstGeom>
          <a:noFill/>
        </p:spPr>
        <p:txBody>
          <a:bodyPr wrap="square" lIns="0" rIns="0" tIns="0" bIns="0">
            <a:spAutoFit/>
          </a:bodyPr>
          <a:lstStyle/>
          <a:p>
            <a:pPr>
              <a:spcBef>
                <a:spcPts val="0"/>
              </a:spcBef>
              <a:spcAft>
                <a:spcPts val="600"/>
              </a:spcAft>
            </a:pPr>
            <a:r>
              <a:rPr sz="1350" b="1" i="0">
                <a:solidFill>
                  <a:srgbClr val="2563EB"/>
                </a:solidFill>
                <a:latin typeface="Segoe UI"/>
              </a:rPr>
              <a:t>AI Act · art. 15</a:t>
            </a:r>
          </a:p>
          <a:p>
            <a:pPr>
              <a:spcBef>
                <a:spcPts val="0"/>
              </a:spcBef>
              <a:spcAft>
                <a:spcPts val="0"/>
              </a:spcAft>
            </a:pPr>
            <a:r>
              <a:rPr sz="1200" b="0" i="0">
                <a:solidFill>
                  <a:srgbClr val="334155"/>
                </a:solidFill>
                <a:latin typeface="Segoe UI"/>
              </a:rPr>
              <a:t>Robustesse + cybersécurité : résister à l'empoisonnement &amp; aux exemples adverses. 35 M€ / 7 %.</a:t>
            </a:r>
          </a:p>
        </p:txBody>
      </p:sp>
      <p:sp>
        <p:nvSpPr>
          <p:cNvPr id="13" name="Rounded Rectangle 12"/>
          <p:cNvSpPr/>
          <p:nvPr/>
        </p:nvSpPr>
        <p:spPr>
          <a:xfrm>
            <a:off x="4325112" y="4892040"/>
            <a:ext cx="3538728" cy="141732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5038344"/>
            <a:ext cx="3136392" cy="1143000"/>
          </a:xfrm>
          <a:prstGeom prst="rect">
            <a:avLst/>
          </a:prstGeom>
          <a:noFill/>
        </p:spPr>
        <p:txBody>
          <a:bodyPr wrap="square" lIns="0" rIns="0" tIns="0" bIns="0">
            <a:spAutoFit/>
          </a:bodyPr>
          <a:lstStyle/>
          <a:p>
            <a:pPr>
              <a:spcBef>
                <a:spcPts val="0"/>
              </a:spcBef>
              <a:spcAft>
                <a:spcPts val="600"/>
              </a:spcAft>
            </a:pPr>
            <a:r>
              <a:rPr sz="1350" b="1" i="0">
                <a:solidFill>
                  <a:srgbClr val="059669"/>
                </a:solidFill>
                <a:latin typeface="Segoe UI"/>
              </a:rPr>
              <a:t>RGPD · art. 32-33</a:t>
            </a:r>
          </a:p>
          <a:p>
            <a:pPr>
              <a:spcBef>
                <a:spcPts val="0"/>
              </a:spcBef>
              <a:spcAft>
                <a:spcPts val="0"/>
              </a:spcAft>
            </a:pPr>
            <a:r>
              <a:rPr sz="1200" b="0" i="0">
                <a:solidFill>
                  <a:srgbClr val="334155"/>
                </a:solidFill>
                <a:latin typeface="Segoe UI"/>
              </a:rPr>
              <a:t>Sécurité appropriée · notif. 72 h. Faille ANTS = manquement type.</a:t>
            </a:r>
          </a:p>
        </p:txBody>
      </p:sp>
      <p:sp>
        <p:nvSpPr>
          <p:cNvPr id="15" name="Rounded Rectangle 14"/>
          <p:cNvSpPr/>
          <p:nvPr/>
        </p:nvSpPr>
        <p:spPr>
          <a:xfrm>
            <a:off x="8147304" y="4892040"/>
            <a:ext cx="3538728" cy="141732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2" y="5038344"/>
            <a:ext cx="3136392" cy="1143000"/>
          </a:xfrm>
          <a:prstGeom prst="rect">
            <a:avLst/>
          </a:prstGeom>
          <a:noFill/>
        </p:spPr>
        <p:txBody>
          <a:bodyPr wrap="square" lIns="0" rIns="0" tIns="0" bIns="0">
            <a:spAutoFit/>
          </a:bodyPr>
          <a:lstStyle/>
          <a:p>
            <a:pPr>
              <a:spcBef>
                <a:spcPts val="0"/>
              </a:spcBef>
              <a:spcAft>
                <a:spcPts val="600"/>
              </a:spcAft>
            </a:pPr>
            <a:r>
              <a:rPr sz="1350" b="1" i="0">
                <a:solidFill>
                  <a:srgbClr val="B45309"/>
                </a:solidFill>
                <a:latin typeface="Segoe UI"/>
              </a:rPr>
              <a:t>ANSSI-PA-102</a:t>
            </a:r>
          </a:p>
          <a:p>
            <a:pPr>
              <a:spcBef>
                <a:spcPts val="0"/>
              </a:spcBef>
              <a:spcAft>
                <a:spcPts val="0"/>
              </a:spcAft>
            </a:pPr>
            <a:r>
              <a:rPr sz="1200" b="0" i="0">
                <a:solidFill>
                  <a:srgbClr val="334155"/>
                </a:solidFill>
                <a:latin typeface="Segoe UI"/>
              </a:rPr>
              <a:t>35 recommandations pour sécuriser une IA générative.</a:t>
            </a:r>
          </a:p>
        </p:txBody>
      </p:sp>
      <p:sp>
        <p:nvSpPr>
          <p:cNvPr id="17" name="Rectangle 16"/>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Commission européenne (AI Act) · RGPD art. 32-33 · La Dépêche (ANTS) · ANSSI-PA-102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11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LES LEVIERS DE LA RÉSILIENCE · TROIS FAMILLES</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Technique · Organisationnel · Juridique</a:t>
            </a:r>
          </a:p>
        </p:txBody>
      </p:sp>
      <p:sp>
        <p:nvSpPr>
          <p:cNvPr id="6" name="TextBox 5"/>
          <p:cNvSpPr txBox="1"/>
          <p:nvPr/>
        </p:nvSpPr>
        <p:spPr>
          <a:xfrm>
            <a:off x="502920" y="1828800"/>
            <a:ext cx="5989320" cy="4206240"/>
          </a:xfrm>
          <a:prstGeom prst="rect">
            <a:avLst/>
          </a:prstGeom>
          <a:noFill/>
        </p:spPr>
        <p:txBody>
          <a:bodyPr wrap="square" lIns="0" rIns="0" tIns="0" bIns="0">
            <a:spAutoFit/>
          </a:bodyPr>
          <a:lstStyle/>
          <a:p>
            <a:pPr>
              <a:spcBef>
                <a:spcPts val="0"/>
              </a:spcBef>
              <a:spcAft>
                <a:spcPts val="800"/>
              </a:spcAft>
            </a:pPr>
            <a:r>
              <a:rPr sz="1600" b="1" i="0">
                <a:solidFill>
                  <a:srgbClr val="2563EB"/>
                </a:solidFill>
                <a:latin typeface="Segoe UI"/>
              </a:rPr>
              <a:t>⚙️  Techniques</a:t>
            </a:r>
          </a:p>
          <a:p>
            <a:pPr>
              <a:lnSpc>
                <a:spcPct val="105000"/>
              </a:lnSpc>
              <a:spcAft>
                <a:spcPts val="700"/>
              </a:spcAft>
            </a:pPr>
            <a:r>
              <a:rPr sz="1450" b="0" i="0">
                <a:solidFill>
                  <a:srgbClr val="334155"/>
                </a:solidFill>
                <a:latin typeface="Segoe UI"/>
              </a:rPr>
              <a:t>•  </a:t>
            </a:r>
            <a:r>
              <a:rPr sz="1450" b="1" i="0">
                <a:solidFill>
                  <a:srgbClr val="0F172A"/>
                </a:solidFill>
                <a:latin typeface="Segoe UI"/>
              </a:rPr>
              <a:t>Zero Trust</a:t>
            </a:r>
            <a:r>
              <a:rPr sz="1450" b="0" i="0">
                <a:solidFill>
                  <a:srgbClr val="334155"/>
                </a:solidFill>
                <a:latin typeface="Segoe UI"/>
              </a:rPr>
              <a:t> · défense en profondeur · SOC/IA</a:t>
            </a:r>
          </a:p>
          <a:p>
            <a:pPr>
              <a:lnSpc>
                <a:spcPct val="105000"/>
              </a:lnSpc>
              <a:spcAft>
                <a:spcPts val="700"/>
              </a:spcAft>
            </a:pPr>
            <a:r>
              <a:rPr sz="1450" b="0" i="0">
                <a:solidFill>
                  <a:srgbClr val="334155"/>
                </a:solidFill>
                <a:latin typeface="Segoe UI"/>
              </a:rPr>
              <a:t>•  </a:t>
            </a:r>
            <a:r>
              <a:rPr sz="1450" b="1" i="0">
                <a:solidFill>
                  <a:srgbClr val="0F172A"/>
                </a:solidFill>
                <a:latin typeface="Segoe UI"/>
              </a:rPr>
              <a:t>MLSecOps</a:t>
            </a:r>
            <a:r>
              <a:rPr sz="1450" b="0" i="0">
                <a:solidFill>
                  <a:srgbClr val="334155"/>
                </a:solidFill>
                <a:latin typeface="Segoe UI"/>
              </a:rPr>
              <a:t> — sécuriser l'IA</a:t>
            </a:r>
          </a:p>
          <a:p>
            <a:pPr>
              <a:lnSpc>
                <a:spcPct val="105000"/>
              </a:lnSpc>
              <a:spcAft>
                <a:spcPts val="700"/>
              </a:spcAft>
            </a:pPr>
            <a:r>
              <a:rPr sz="1450" b="0" i="0">
                <a:solidFill>
                  <a:srgbClr val="334155"/>
                </a:solidFill>
                <a:latin typeface="Segoe UI"/>
              </a:rPr>
              <a:t>•  </a:t>
            </a:r>
            <a:r>
              <a:rPr sz="1450" b="1" i="0">
                <a:solidFill>
                  <a:srgbClr val="0F172A"/>
                </a:solidFill>
                <a:latin typeface="Segoe UI"/>
              </a:rPr>
              <a:t>PRA / PCA</a:t>
            </a:r>
            <a:r>
              <a:rPr sz="1450" b="0" i="0">
                <a:solidFill>
                  <a:srgbClr val="334155"/>
                </a:solidFill>
                <a:latin typeface="Segoe UI"/>
              </a:rPr>
              <a:t> — sauvegardes immuables</a:t>
            </a:r>
          </a:p>
          <a:p>
            <a:pPr>
              <a:spcBef>
                <a:spcPts val="0"/>
              </a:spcBef>
              <a:spcAft>
                <a:spcPts val="800"/>
              </a:spcAft>
            </a:pPr>
            <a:r>
              <a:rPr sz="1600" b="1" i="0">
                <a:solidFill>
                  <a:srgbClr val="B45309"/>
                </a:solidFill>
                <a:latin typeface="Segoe UI"/>
              </a:rPr>
              <a:t>🏛️  Organisationnels</a:t>
            </a:r>
            <a:r>
              <a:rPr sz="1600" b="0" i="0">
                <a:solidFill>
                  <a:srgbClr val="64748B"/>
                </a:solidFill>
                <a:latin typeface="Segoe UI"/>
              </a:rPr>
              <a:t>  (souvent oublié)</a:t>
            </a:r>
          </a:p>
          <a:p>
            <a:pPr>
              <a:lnSpc>
                <a:spcPct val="105000"/>
              </a:lnSpc>
              <a:spcAft>
                <a:spcPts val="700"/>
              </a:spcAft>
            </a:pPr>
            <a:r>
              <a:rPr sz="1450" b="0" i="0">
                <a:solidFill>
                  <a:srgbClr val="334155"/>
                </a:solidFill>
                <a:latin typeface="Segoe UI"/>
              </a:rPr>
              <a:t>•  </a:t>
            </a:r>
            <a:r>
              <a:rPr sz="1450" b="1" i="0">
                <a:solidFill>
                  <a:srgbClr val="0F172A"/>
                </a:solidFill>
                <a:latin typeface="Segoe UI"/>
              </a:rPr>
              <a:t>RSSI · DPO · comité éthique IA</a:t>
            </a:r>
          </a:p>
          <a:p>
            <a:pPr>
              <a:lnSpc>
                <a:spcPct val="105000"/>
              </a:lnSpc>
              <a:spcAft>
                <a:spcPts val="700"/>
              </a:spcAft>
            </a:pPr>
            <a:r>
              <a:rPr sz="1450" b="0" i="0">
                <a:solidFill>
                  <a:srgbClr val="334155"/>
                </a:solidFill>
                <a:latin typeface="Segoe UI"/>
              </a:rPr>
              <a:t>•  </a:t>
            </a:r>
            <a:r>
              <a:rPr sz="1450" b="1" i="0">
                <a:solidFill>
                  <a:srgbClr val="0F172A"/>
                </a:solidFill>
                <a:latin typeface="Segoe UI"/>
              </a:rPr>
              <a:t>EBIOS RM · AIPD · classification</a:t>
            </a:r>
          </a:p>
          <a:p>
            <a:pPr>
              <a:lnSpc>
                <a:spcPct val="105000"/>
              </a:lnSpc>
              <a:spcAft>
                <a:spcPts val="700"/>
              </a:spcAft>
            </a:pPr>
            <a:r>
              <a:rPr sz="1450" b="0" i="0">
                <a:solidFill>
                  <a:srgbClr val="334155"/>
                </a:solidFill>
                <a:latin typeface="Segoe UI"/>
              </a:rPr>
              <a:t>•  </a:t>
            </a:r>
            <a:r>
              <a:rPr sz="1450" b="1" i="0">
                <a:solidFill>
                  <a:srgbClr val="0F172A"/>
                </a:solidFill>
                <a:latin typeface="Segoe UI"/>
              </a:rPr>
              <a:t>Politique d'usage IA · formation · red team</a:t>
            </a:r>
          </a:p>
          <a:p>
            <a:pPr>
              <a:spcBef>
                <a:spcPts val="0"/>
              </a:spcBef>
              <a:spcAft>
                <a:spcPts val="800"/>
              </a:spcAft>
            </a:pPr>
            <a:r>
              <a:rPr sz="1600" b="1" i="0">
                <a:solidFill>
                  <a:srgbClr val="059669"/>
                </a:solidFill>
                <a:latin typeface="Segoe UI"/>
              </a:rPr>
              <a:t>⚖️  Juridiques</a:t>
            </a:r>
          </a:p>
          <a:p>
            <a:pPr>
              <a:lnSpc>
                <a:spcPct val="105000"/>
              </a:lnSpc>
            </a:pPr>
            <a:r>
              <a:rPr sz="1450" b="0" i="0">
                <a:solidFill>
                  <a:srgbClr val="334155"/>
                </a:solidFill>
                <a:latin typeface="Segoe UI"/>
              </a:rPr>
              <a:t>•  </a:t>
            </a:r>
            <a:r>
              <a:rPr sz="1450" b="1" i="0">
                <a:solidFill>
                  <a:srgbClr val="0F172A"/>
                </a:solidFill>
                <a:latin typeface="Segoe UI"/>
              </a:rPr>
              <a:t>NIS2 · DORA · AI Act · RGPD · clauses (art. 28)</a:t>
            </a:r>
          </a:p>
        </p:txBody>
      </p:sp>
      <p:pic>
        <p:nvPicPr>
          <p:cNvPr id="7" name="Picture 6" descr="chart-05-resilience-triangle.png"/>
          <p:cNvPicPr>
            <a:picLocks noChangeAspect="1"/>
          </p:cNvPicPr>
          <p:nvPr/>
        </p:nvPicPr>
        <p:blipFill>
          <a:blip r:embed="rId2"/>
          <a:stretch>
            <a:fillRect/>
          </a:stretch>
        </p:blipFill>
        <p:spPr>
          <a:xfrm>
            <a:off x="6675120" y="2423160"/>
            <a:ext cx="5029200" cy="2121693"/>
          </a:xfrm>
          <a:prstGeom prst="rect">
            <a:avLst/>
          </a:prstGeom>
        </p:spPr>
      </p:pic>
      <p:sp>
        <p:nvSpPr>
          <p:cNvPr id="8" name="Rectangle 7"/>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NIST SP 800-207 · OWASP Top 10 LLM 2025 · ANSSI EBIOS RM · Thomson Reuters / UNESCO.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12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CONCLUSION · OUVERTURE</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L'épée à double tranchant, en équilibre</a:t>
            </a:r>
          </a:p>
        </p:txBody>
      </p:sp>
      <p:sp>
        <p:nvSpPr>
          <p:cNvPr id="6" name="Rounded Rectangle 5"/>
          <p:cNvSpPr/>
          <p:nvPr/>
        </p:nvSpPr>
        <p:spPr>
          <a:xfrm>
            <a:off x="502920" y="1737360"/>
            <a:ext cx="3538728" cy="196596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3081528" cy="1965960"/>
          </a:xfrm>
          <a:prstGeom prst="rect">
            <a:avLst/>
          </a:prstGeom>
          <a:noFill/>
        </p:spPr>
        <p:txBody>
          <a:bodyPr wrap="square" lIns="0" rIns="0" tIns="0" bIns="0" anchor="ctr">
            <a:spAutoFit/>
          </a:bodyPr>
          <a:lstStyle/>
          <a:p>
            <a:pPr>
              <a:spcBef>
                <a:spcPts val="0"/>
              </a:spcBef>
              <a:spcAft>
                <a:spcPts val="1000"/>
              </a:spcAft>
            </a:pPr>
            <a:r>
              <a:rPr sz="2800" b="1" i="0">
                <a:solidFill>
                  <a:srgbClr val="2563EB"/>
                </a:solidFill>
                <a:latin typeface="Segoe UI"/>
              </a:rPr>
              <a:t>1</a:t>
            </a:r>
          </a:p>
          <a:p>
            <a:pPr>
              <a:lnSpc>
                <a:spcPct val="112000"/>
              </a:lnSpc>
              <a:spcBef>
                <a:spcPts val="0"/>
              </a:spcBef>
              <a:spcAft>
                <a:spcPts val="0"/>
              </a:spcAft>
            </a:pPr>
            <a:r>
              <a:rPr sz="1500" b="0" i="0">
                <a:solidFill>
                  <a:srgbClr val="334155"/>
                </a:solidFill>
                <a:latin typeface="Segoe UI"/>
              </a:rPr>
              <a:t>L'IA = </a:t>
            </a:r>
            <a:r>
              <a:rPr sz="1500" b="1" i="0">
                <a:solidFill>
                  <a:srgbClr val="2563EB"/>
                </a:solidFill>
                <a:latin typeface="Segoe UI"/>
              </a:rPr>
              <a:t>multiplicateur de force</a:t>
            </a:r>
            <a:r>
              <a:rPr sz="1500" b="0" i="0">
                <a:solidFill>
                  <a:srgbClr val="334155"/>
                </a:solidFill>
                <a:latin typeface="Segoe UI"/>
              </a:rPr>
              <a:t> en défense.</a:t>
            </a:r>
          </a:p>
        </p:txBody>
      </p:sp>
      <p:sp>
        <p:nvSpPr>
          <p:cNvPr id="8" name="Rounded Rectangle 7"/>
          <p:cNvSpPr/>
          <p:nvPr/>
        </p:nvSpPr>
        <p:spPr>
          <a:xfrm>
            <a:off x="4325112" y="1737360"/>
            <a:ext cx="3538728" cy="196596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737360"/>
            <a:ext cx="3081528" cy="1965960"/>
          </a:xfrm>
          <a:prstGeom prst="rect">
            <a:avLst/>
          </a:prstGeom>
          <a:noFill/>
        </p:spPr>
        <p:txBody>
          <a:bodyPr wrap="square" lIns="0" rIns="0" tIns="0" bIns="0" anchor="ctr">
            <a:spAutoFit/>
          </a:bodyPr>
          <a:lstStyle/>
          <a:p>
            <a:pPr>
              <a:spcBef>
                <a:spcPts val="0"/>
              </a:spcBef>
              <a:spcAft>
                <a:spcPts val="1000"/>
              </a:spcAft>
            </a:pPr>
            <a:r>
              <a:rPr sz="2800" b="1" i="0">
                <a:solidFill>
                  <a:srgbClr val="DC2626"/>
                </a:solidFill>
                <a:latin typeface="Segoe UI"/>
              </a:rPr>
              <a:t>2</a:t>
            </a:r>
          </a:p>
          <a:p>
            <a:pPr>
              <a:lnSpc>
                <a:spcPct val="112000"/>
              </a:lnSpc>
              <a:spcBef>
                <a:spcPts val="0"/>
              </a:spcBef>
              <a:spcAft>
                <a:spcPts val="0"/>
              </a:spcAft>
            </a:pPr>
            <a:r>
              <a:rPr sz="1500" b="0" i="0">
                <a:solidFill>
                  <a:srgbClr val="334155"/>
                </a:solidFill>
                <a:latin typeface="Segoe UI"/>
              </a:rPr>
              <a:t>La même IA </a:t>
            </a:r>
            <a:r>
              <a:rPr sz="1500" b="1" i="0">
                <a:solidFill>
                  <a:srgbClr val="DC2626"/>
                </a:solidFill>
                <a:latin typeface="Segoe UI"/>
              </a:rPr>
              <a:t>arme l'attaquant</a:t>
            </a:r>
            <a:r>
              <a:rPr sz="1500" b="0" i="0">
                <a:solidFill>
                  <a:srgbClr val="334155"/>
                </a:solidFill>
                <a:latin typeface="Segoe UI"/>
              </a:rPr>
              <a:t> et devient une cible.</a:t>
            </a:r>
          </a:p>
        </p:txBody>
      </p:sp>
      <p:sp>
        <p:nvSpPr>
          <p:cNvPr id="10" name="Rounded Rectangle 9"/>
          <p:cNvSpPr/>
          <p:nvPr/>
        </p:nvSpPr>
        <p:spPr>
          <a:xfrm>
            <a:off x="8147304" y="1737360"/>
            <a:ext cx="3538728" cy="1965960"/>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75904" y="1737360"/>
            <a:ext cx="3081528" cy="1965960"/>
          </a:xfrm>
          <a:prstGeom prst="rect">
            <a:avLst/>
          </a:prstGeom>
          <a:noFill/>
        </p:spPr>
        <p:txBody>
          <a:bodyPr wrap="square" lIns="0" rIns="0" tIns="0" bIns="0" anchor="ctr">
            <a:spAutoFit/>
          </a:bodyPr>
          <a:lstStyle/>
          <a:p>
            <a:pPr>
              <a:spcBef>
                <a:spcPts val="0"/>
              </a:spcBef>
              <a:spcAft>
                <a:spcPts val="1000"/>
              </a:spcAft>
            </a:pPr>
            <a:r>
              <a:rPr sz="2800" b="1" i="0">
                <a:solidFill>
                  <a:srgbClr val="B45309"/>
                </a:solidFill>
                <a:latin typeface="Segoe UI"/>
              </a:rPr>
              <a:t>3</a:t>
            </a:r>
          </a:p>
          <a:p>
            <a:pPr>
              <a:lnSpc>
                <a:spcPct val="112000"/>
              </a:lnSpc>
              <a:spcBef>
                <a:spcPts val="0"/>
              </a:spcBef>
              <a:spcAft>
                <a:spcPts val="0"/>
              </a:spcAft>
            </a:pPr>
            <a:r>
              <a:rPr sz="1500" b="0" i="0">
                <a:solidFill>
                  <a:srgbClr val="334155"/>
                </a:solidFill>
                <a:latin typeface="Segoe UI"/>
              </a:rPr>
              <a:t>La </a:t>
            </a:r>
            <a:r>
              <a:rPr sz="1500" b="1" i="0">
                <a:solidFill>
                  <a:srgbClr val="B45309"/>
                </a:solidFill>
                <a:latin typeface="Segoe UI"/>
              </a:rPr>
              <a:t>résilience</a:t>
            </a:r>
            <a:r>
              <a:rPr sz="1500" b="0" i="0">
                <a:solidFill>
                  <a:srgbClr val="334155"/>
                </a:solidFill>
                <a:latin typeface="Segoe UI"/>
              </a:rPr>
              <a:t> = technique + organisation + droit.</a:t>
            </a:r>
          </a:p>
        </p:txBody>
      </p:sp>
      <p:sp>
        <p:nvSpPr>
          <p:cNvPr id="12" name="Rounded Rectangle 11"/>
          <p:cNvSpPr/>
          <p:nvPr/>
        </p:nvSpPr>
        <p:spPr>
          <a:xfrm>
            <a:off x="502920" y="3977639"/>
            <a:ext cx="11183112" cy="868680"/>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977639"/>
            <a:ext cx="10515600" cy="868680"/>
          </a:xfrm>
          <a:prstGeom prst="rect">
            <a:avLst/>
          </a:prstGeom>
          <a:noFill/>
        </p:spPr>
        <p:txBody>
          <a:bodyPr wrap="square" lIns="0" rIns="0" tIns="0" bIns="0" anchor="ctr">
            <a:spAutoFit/>
          </a:bodyPr>
          <a:lstStyle/>
          <a:p>
            <a:pPr>
              <a:spcBef>
                <a:spcPts val="0"/>
              </a:spcBef>
              <a:spcAft>
                <a:spcPts val="0"/>
              </a:spcAft>
            </a:pPr>
            <a:r>
              <a:rPr sz="1900" b="0" i="1">
                <a:solidFill>
                  <a:srgbClr val="0F172A"/>
                </a:solidFill>
                <a:latin typeface="Segoe UI"/>
              </a:rPr>
              <a:t>La question n'est plus </a:t>
            </a:r>
            <a:r>
              <a:rPr sz="1900" b="1" i="1">
                <a:solidFill>
                  <a:srgbClr val="0F172A"/>
                </a:solidFill>
                <a:latin typeface="Segoe UI"/>
              </a:rPr>
              <a:t>si</a:t>
            </a:r>
            <a:r>
              <a:rPr sz="1900" b="0" i="1">
                <a:solidFill>
                  <a:srgbClr val="0F172A"/>
                </a:solidFill>
                <a:latin typeface="Segoe UI"/>
              </a:rPr>
              <a:t> on sera attaqué, mais </a:t>
            </a:r>
            <a:r>
              <a:rPr sz="1900" b="1" i="1">
                <a:solidFill>
                  <a:srgbClr val="B45309"/>
                </a:solidFill>
                <a:latin typeface="Segoe UI"/>
              </a:rPr>
              <a:t>quand</a:t>
            </a:r>
            <a:r>
              <a:rPr sz="1900" b="0" i="1">
                <a:solidFill>
                  <a:srgbClr val="0F172A"/>
                </a:solidFill>
                <a:latin typeface="Segoe UI"/>
              </a:rPr>
              <a:t> — et si le SI </a:t>
            </a:r>
            <a:r>
              <a:rPr sz="1900" b="1" i="1">
                <a:solidFill>
                  <a:srgbClr val="0F172A"/>
                </a:solidFill>
                <a:latin typeface="Segoe UI"/>
              </a:rPr>
              <a:t>tiendra</a:t>
            </a:r>
            <a:r>
              <a:rPr sz="1900" b="0" i="1">
                <a:solidFill>
                  <a:srgbClr val="0F172A"/>
                </a:solidFill>
                <a:latin typeface="Segoe UI"/>
              </a:rPr>
              <a:t>.</a:t>
            </a:r>
          </a:p>
        </p:txBody>
      </p:sp>
      <p:sp>
        <p:nvSpPr>
          <p:cNvPr id="14" name="TextBox 13"/>
          <p:cNvSpPr txBox="1"/>
          <p:nvPr/>
        </p:nvSpPr>
        <p:spPr>
          <a:xfrm>
            <a:off x="502920" y="5120640"/>
            <a:ext cx="11183112" cy="914400"/>
          </a:xfrm>
          <a:prstGeom prst="rect">
            <a:avLst/>
          </a:prstGeom>
          <a:noFill/>
        </p:spPr>
        <p:txBody>
          <a:bodyPr wrap="square" lIns="0" rIns="0" tIns="0" bIns="0">
            <a:spAutoFit/>
          </a:bodyPr>
          <a:lstStyle/>
          <a:p>
            <a:pPr>
              <a:lnSpc>
                <a:spcPct val="115000"/>
              </a:lnSpc>
              <a:spcBef>
                <a:spcPts val="0"/>
              </a:spcBef>
              <a:spcAft>
                <a:spcPts val="0"/>
              </a:spcAft>
            </a:pPr>
            <a:r>
              <a:rPr sz="1600" b="1" i="1">
                <a:solidFill>
                  <a:srgbClr val="2563EB"/>
                </a:solidFill>
                <a:latin typeface="Segoe UI"/>
              </a:rPr>
              <a:t>Question ouverte : </a:t>
            </a:r>
            <a:r>
              <a:rPr sz="1600" b="0" i="1">
                <a:solidFill>
                  <a:srgbClr val="0F172A"/>
                </a:solidFill>
                <a:latin typeface="Segoe UI"/>
              </a:rPr>
              <a:t>l'humain reste-t-il l'arbitre de la cybersécurité… ou en devient-il la variable d'ajustement ?</a:t>
            </a:r>
          </a:p>
        </p:txBody>
      </p:sp>
      <p:sp>
        <p:nvSpPr>
          <p:cNvPr id="15" name="Rectangle 14"/>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IBM 2025 · ENISA 2025 · Arup 2024.   —   Je vous remercie.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0" y="274320"/>
            <a:ext cx="777240" cy="274320"/>
          </a:xfrm>
          <a:prstGeom prst="rect">
            <a:avLst/>
          </a:prstGeom>
          <a:noFill/>
        </p:spPr>
        <p:txBody>
          <a:bodyPr wrap="square" lIns="0" rIns="0" tIns="0" bIns="0">
            <a:spAutoFit/>
          </a:bodyPr>
          <a:lstStyle/>
          <a:p>
            <a:pPr algn="r">
              <a:spcBef>
                <a:spcPts val="0"/>
              </a:spcBef>
              <a:spcAft>
                <a:spcPts val="600"/>
              </a:spcAft>
            </a:pPr>
            <a:r>
              <a:rPr sz="1100" b="1" i="0">
                <a:solidFill>
                  <a:srgbClr val="64748B"/>
                </a:solidFill>
                <a:latin typeface="Segoe UI"/>
              </a:rPr>
              <a:t>13 / 13</a:t>
            </a:r>
          </a:p>
        </p:txBody>
      </p:sp>
      <p:sp>
        <p:nvSpPr>
          <p:cNvPr id="4" name="TextBox 3"/>
          <p:cNvSpPr txBox="1"/>
          <p:nvPr/>
        </p:nvSpPr>
        <p:spPr>
          <a:xfrm>
            <a:off x="502920" y="384048"/>
            <a:ext cx="10332720" cy="292608"/>
          </a:xfrm>
          <a:prstGeom prst="rect">
            <a:avLst/>
          </a:prstGeom>
          <a:noFill/>
        </p:spPr>
        <p:txBody>
          <a:bodyPr wrap="square" lIns="0" rIns="0" tIns="0" bIns="0">
            <a:spAutoFit/>
          </a:bodyPr>
          <a:lstStyle/>
          <a:p>
            <a:pPr>
              <a:spcBef>
                <a:spcPts val="0"/>
              </a:spcBef>
              <a:spcAft>
                <a:spcPts val="600"/>
              </a:spcAft>
            </a:pPr>
            <a:r>
              <a:rPr sz="1100" b="1" i="0">
                <a:solidFill>
                  <a:srgbClr val="2563EB"/>
                </a:solidFill>
                <a:latin typeface="Segoe UI"/>
              </a:rPr>
              <a:t>BIBLIOGRAPHIE · SOURCES VÉRIFIÉES</a:t>
            </a:r>
          </a:p>
        </p:txBody>
      </p:sp>
      <p:sp>
        <p:nvSpPr>
          <p:cNvPr id="5" name="TextBox 4"/>
          <p:cNvSpPr txBox="1"/>
          <p:nvPr/>
        </p:nvSpPr>
        <p:spPr>
          <a:xfrm>
            <a:off x="502920" y="676656"/>
            <a:ext cx="11155680" cy="868680"/>
          </a:xfrm>
          <a:prstGeom prst="rect">
            <a:avLst/>
          </a:prstGeom>
          <a:noFill/>
        </p:spPr>
        <p:txBody>
          <a:bodyPr wrap="square" lIns="0" rIns="0" tIns="0" bIns="0">
            <a:spAutoFit/>
          </a:bodyPr>
          <a:lstStyle/>
          <a:p>
            <a:pPr>
              <a:lnSpc>
                <a:spcPct val="105000"/>
              </a:lnSpc>
              <a:spcBef>
                <a:spcPts val="0"/>
              </a:spcBef>
              <a:spcAft>
                <a:spcPts val="0"/>
              </a:spcAft>
            </a:pPr>
            <a:r>
              <a:rPr sz="3000" b="1" i="0">
                <a:solidFill>
                  <a:srgbClr val="0F172A"/>
                </a:solidFill>
                <a:latin typeface="Segoe UI"/>
              </a:rPr>
              <a:t>Sources</a:t>
            </a:r>
          </a:p>
        </p:txBody>
      </p:sp>
      <p:sp>
        <p:nvSpPr>
          <p:cNvPr id="6" name="TextBox 5"/>
          <p:cNvSpPr txBox="1"/>
          <p:nvPr/>
        </p:nvSpPr>
        <p:spPr>
          <a:xfrm>
            <a:off x="502920" y="1828800"/>
            <a:ext cx="3538728" cy="4114800"/>
          </a:xfrm>
          <a:prstGeom prst="rect">
            <a:avLst/>
          </a:prstGeom>
          <a:noFill/>
        </p:spPr>
        <p:txBody>
          <a:bodyPr wrap="square" lIns="0" rIns="0" tIns="0" bIns="0">
            <a:spAutoFit/>
          </a:bodyPr>
          <a:lstStyle/>
          <a:p>
            <a:pPr>
              <a:spcBef>
                <a:spcPts val="0"/>
              </a:spcBef>
              <a:spcAft>
                <a:spcPts val="1200"/>
              </a:spcAft>
            </a:pPr>
            <a:r>
              <a:rPr sz="1500" b="1" i="0">
                <a:solidFill>
                  <a:srgbClr val="2563EB"/>
                </a:solidFill>
                <a:latin typeface="Segoe UI"/>
              </a:rPr>
              <a:t>🏛️ Institutionnel</a:t>
            </a:r>
          </a:p>
          <a:p>
            <a:pPr>
              <a:lnSpc>
                <a:spcPct val="105000"/>
              </a:lnSpc>
              <a:spcAft>
                <a:spcPts val="1000"/>
              </a:spcAft>
            </a:pPr>
            <a:r>
              <a:rPr sz="1250" b="0" i="0">
                <a:solidFill>
                  <a:srgbClr val="334155"/>
                </a:solidFill>
                <a:latin typeface="Segoe UI"/>
              </a:rPr>
              <a:t>•  </a:t>
            </a:r>
            <a:r>
              <a:rPr sz="1250" b="0" i="0">
                <a:solidFill>
                  <a:srgbClr val="334155"/>
                </a:solidFill>
                <a:latin typeface="Segoe UI"/>
              </a:rPr>
              <a:t>ANSSI — Panorama 2025 · guide IA (PA-102) · EBIOS RM</a:t>
            </a:r>
          </a:p>
          <a:p>
            <a:pPr>
              <a:lnSpc>
                <a:spcPct val="105000"/>
              </a:lnSpc>
              <a:spcAft>
                <a:spcPts val="1000"/>
              </a:spcAft>
            </a:pPr>
            <a:r>
              <a:rPr sz="1250" b="0" i="0">
                <a:solidFill>
                  <a:srgbClr val="334155"/>
                </a:solidFill>
                <a:latin typeface="Segoe UI"/>
              </a:rPr>
              <a:t>•  </a:t>
            </a:r>
            <a:r>
              <a:rPr sz="1250" b="0" i="0">
                <a:solidFill>
                  <a:srgbClr val="334155"/>
                </a:solidFill>
                <a:latin typeface="Segoe UI"/>
              </a:rPr>
              <a:t>ENISA — Threat Landscape 2025</a:t>
            </a:r>
          </a:p>
          <a:p>
            <a:pPr>
              <a:lnSpc>
                <a:spcPct val="105000"/>
              </a:lnSpc>
              <a:spcAft>
                <a:spcPts val="1000"/>
              </a:spcAft>
            </a:pPr>
            <a:r>
              <a:rPr sz="1250" b="0" i="0">
                <a:solidFill>
                  <a:srgbClr val="334155"/>
                </a:solidFill>
                <a:latin typeface="Segoe UI"/>
              </a:rPr>
              <a:t>•  </a:t>
            </a:r>
            <a:r>
              <a:rPr sz="1250" b="0" i="0">
                <a:solidFill>
                  <a:srgbClr val="334155"/>
                </a:solidFill>
                <a:latin typeface="Segoe UI"/>
              </a:rPr>
              <a:t>Commission européenne — AI Act · NIS2 · DORA</a:t>
            </a:r>
          </a:p>
          <a:p>
            <a:pPr>
              <a:lnSpc>
                <a:spcPct val="105000"/>
              </a:lnSpc>
              <a:spcAft>
                <a:spcPts val="1000"/>
              </a:spcAft>
            </a:pPr>
            <a:r>
              <a:rPr sz="1250" b="0" i="0">
                <a:solidFill>
                  <a:srgbClr val="334155"/>
                </a:solidFill>
                <a:latin typeface="Segoe UI"/>
              </a:rPr>
              <a:t>•  </a:t>
            </a:r>
            <a:r>
              <a:rPr sz="1250" b="0" i="0">
                <a:solidFill>
                  <a:srgbClr val="334155"/>
                </a:solidFill>
                <a:latin typeface="Segoe UI"/>
              </a:rPr>
              <a:t>NIST — CSF 2.0 · SP 800-207</a:t>
            </a:r>
          </a:p>
          <a:p>
            <a:pPr>
              <a:lnSpc>
                <a:spcPct val="105000"/>
              </a:lnSpc>
              <a:spcAft>
                <a:spcPts val="1000"/>
              </a:spcAft>
            </a:pPr>
            <a:r>
              <a:rPr sz="1250" b="0" i="0">
                <a:solidFill>
                  <a:srgbClr val="334155"/>
                </a:solidFill>
                <a:latin typeface="Segoe UI"/>
              </a:rPr>
              <a:t>•  </a:t>
            </a:r>
            <a:r>
              <a:rPr sz="1250" b="0" i="0">
                <a:solidFill>
                  <a:srgbClr val="334155"/>
                </a:solidFill>
                <a:latin typeface="Segoe UI"/>
              </a:rPr>
              <a:t>RGPD — art. 28, 32, 33</a:t>
            </a:r>
          </a:p>
        </p:txBody>
      </p:sp>
      <p:sp>
        <p:nvSpPr>
          <p:cNvPr id="7" name="TextBox 6"/>
          <p:cNvSpPr txBox="1"/>
          <p:nvPr/>
        </p:nvSpPr>
        <p:spPr>
          <a:xfrm>
            <a:off x="4325112" y="1828800"/>
            <a:ext cx="3538728" cy="4114800"/>
          </a:xfrm>
          <a:prstGeom prst="rect">
            <a:avLst/>
          </a:prstGeom>
          <a:noFill/>
        </p:spPr>
        <p:txBody>
          <a:bodyPr wrap="square" lIns="0" rIns="0" tIns="0" bIns="0">
            <a:spAutoFit/>
          </a:bodyPr>
          <a:lstStyle/>
          <a:p>
            <a:pPr>
              <a:spcBef>
                <a:spcPts val="0"/>
              </a:spcBef>
              <a:spcAft>
                <a:spcPts val="1200"/>
              </a:spcAft>
            </a:pPr>
            <a:r>
              <a:rPr sz="1500" b="1" i="0">
                <a:solidFill>
                  <a:srgbClr val="B45309"/>
                </a:solidFill>
                <a:latin typeface="Segoe UI"/>
              </a:rPr>
              <a:t>📊 Études &amp; marché</a:t>
            </a:r>
          </a:p>
          <a:p>
            <a:pPr>
              <a:lnSpc>
                <a:spcPct val="105000"/>
              </a:lnSpc>
              <a:spcAft>
                <a:spcPts val="1000"/>
              </a:spcAft>
            </a:pPr>
            <a:r>
              <a:rPr sz="1250" b="0" i="0">
                <a:solidFill>
                  <a:srgbClr val="334155"/>
                </a:solidFill>
                <a:latin typeface="Segoe UI"/>
              </a:rPr>
              <a:t>•  </a:t>
            </a:r>
            <a:r>
              <a:rPr sz="1250" b="0" i="0">
                <a:solidFill>
                  <a:srgbClr val="334155"/>
                </a:solidFill>
                <a:latin typeface="Segoe UI"/>
              </a:rPr>
              <a:t>IBM — Cost of a Data Breach 2025</a:t>
            </a:r>
          </a:p>
          <a:p>
            <a:pPr>
              <a:lnSpc>
                <a:spcPct val="105000"/>
              </a:lnSpc>
              <a:spcAft>
                <a:spcPts val="1000"/>
              </a:spcAft>
            </a:pPr>
            <a:r>
              <a:rPr sz="1250" b="0" i="0">
                <a:solidFill>
                  <a:srgbClr val="334155"/>
                </a:solidFill>
                <a:latin typeface="Segoe UI"/>
              </a:rPr>
              <a:t>•  </a:t>
            </a:r>
            <a:r>
              <a:rPr sz="1250" b="0" i="0">
                <a:solidFill>
                  <a:srgbClr val="334155"/>
                </a:solidFill>
                <a:latin typeface="Segoe UI"/>
              </a:rPr>
              <a:t>Gartner / MarketsandMarkets — marché IA-cyber</a:t>
            </a:r>
          </a:p>
          <a:p>
            <a:pPr>
              <a:lnSpc>
                <a:spcPct val="105000"/>
              </a:lnSpc>
              <a:spcAft>
                <a:spcPts val="1000"/>
              </a:spcAft>
            </a:pPr>
            <a:r>
              <a:rPr sz="1250" b="0" i="0">
                <a:solidFill>
                  <a:srgbClr val="334155"/>
                </a:solidFill>
                <a:latin typeface="Segoe UI"/>
              </a:rPr>
              <a:t>•  </a:t>
            </a:r>
            <a:r>
              <a:rPr sz="1250" b="0" i="0">
                <a:solidFill>
                  <a:srgbClr val="334155"/>
                </a:solidFill>
                <a:latin typeface="Segoe UI"/>
              </a:rPr>
              <a:t>Thomson Reuters × UNESCO — gouvernance IA</a:t>
            </a:r>
          </a:p>
          <a:p>
            <a:pPr>
              <a:lnSpc>
                <a:spcPct val="105000"/>
              </a:lnSpc>
              <a:spcAft>
                <a:spcPts val="1000"/>
              </a:spcAft>
            </a:pPr>
            <a:r>
              <a:rPr sz="1250" b="0" i="0">
                <a:solidFill>
                  <a:srgbClr val="334155"/>
                </a:solidFill>
                <a:latin typeface="Segoe UI"/>
              </a:rPr>
              <a:t>•  </a:t>
            </a:r>
            <a:r>
              <a:rPr sz="1250" b="0" i="0">
                <a:solidFill>
                  <a:srgbClr val="334155"/>
                </a:solidFill>
                <a:latin typeface="Segoe UI"/>
              </a:rPr>
              <a:t>Cegos — baromètre compétences 2026</a:t>
            </a:r>
          </a:p>
        </p:txBody>
      </p:sp>
      <p:sp>
        <p:nvSpPr>
          <p:cNvPr id="8" name="TextBox 7"/>
          <p:cNvSpPr txBox="1"/>
          <p:nvPr/>
        </p:nvSpPr>
        <p:spPr>
          <a:xfrm>
            <a:off x="8147304" y="1828800"/>
            <a:ext cx="3538728" cy="4114800"/>
          </a:xfrm>
          <a:prstGeom prst="rect">
            <a:avLst/>
          </a:prstGeom>
          <a:noFill/>
        </p:spPr>
        <p:txBody>
          <a:bodyPr wrap="square" lIns="0" rIns="0" tIns="0" bIns="0">
            <a:spAutoFit/>
          </a:bodyPr>
          <a:lstStyle/>
          <a:p>
            <a:pPr>
              <a:spcBef>
                <a:spcPts val="0"/>
              </a:spcBef>
              <a:spcAft>
                <a:spcPts val="1200"/>
              </a:spcAft>
            </a:pPr>
            <a:r>
              <a:rPr sz="1500" b="1" i="0">
                <a:solidFill>
                  <a:srgbClr val="059669"/>
                </a:solidFill>
                <a:latin typeface="Segoe UI"/>
              </a:rPr>
              <a:t>📰 Faits · 📚 Référentiels</a:t>
            </a:r>
          </a:p>
          <a:p>
            <a:pPr>
              <a:lnSpc>
                <a:spcPct val="105000"/>
              </a:lnSpc>
              <a:spcAft>
                <a:spcPts val="1000"/>
              </a:spcAft>
            </a:pPr>
            <a:r>
              <a:rPr sz="1250" b="0" i="0">
                <a:solidFill>
                  <a:srgbClr val="334155"/>
                </a:solidFill>
                <a:latin typeface="Segoe UI"/>
              </a:rPr>
              <a:t>•  </a:t>
            </a:r>
            <a:r>
              <a:rPr sz="1250" b="0" i="0">
                <a:solidFill>
                  <a:srgbClr val="334155"/>
                </a:solidFill>
                <a:latin typeface="Segoe UI"/>
              </a:rPr>
              <a:t>CNN / Fortune — deepfake Arup (25,6 M$)</a:t>
            </a:r>
          </a:p>
          <a:p>
            <a:pPr>
              <a:lnSpc>
                <a:spcPct val="105000"/>
              </a:lnSpc>
              <a:spcAft>
                <a:spcPts val="1000"/>
              </a:spcAft>
            </a:pPr>
            <a:r>
              <a:rPr sz="1250" b="0" i="0">
                <a:solidFill>
                  <a:srgbClr val="334155"/>
                </a:solidFill>
                <a:latin typeface="Segoe UI"/>
              </a:rPr>
              <a:t>•  </a:t>
            </a:r>
            <a:r>
              <a:rPr sz="1250" b="0" i="0">
                <a:solidFill>
                  <a:srgbClr val="334155"/>
                </a:solidFill>
                <a:latin typeface="Segoe UI"/>
              </a:rPr>
              <a:t>La Dépêche — fuite ANTS 11,7 M</a:t>
            </a:r>
          </a:p>
          <a:p>
            <a:pPr>
              <a:lnSpc>
                <a:spcPct val="105000"/>
              </a:lnSpc>
              <a:spcAft>
                <a:spcPts val="1000"/>
              </a:spcAft>
            </a:pPr>
            <a:r>
              <a:rPr sz="1250" b="0" i="0">
                <a:solidFill>
                  <a:srgbClr val="334155"/>
                </a:solidFill>
                <a:latin typeface="Segoe UI"/>
              </a:rPr>
              <a:t>•  </a:t>
            </a:r>
            <a:r>
              <a:rPr sz="1250" b="0" i="0">
                <a:solidFill>
                  <a:srgbClr val="334155"/>
                </a:solidFill>
                <a:latin typeface="Segoe UI"/>
              </a:rPr>
              <a:t>OWASP — Top 10 LLM 2025</a:t>
            </a:r>
          </a:p>
          <a:p>
            <a:pPr>
              <a:lnSpc>
                <a:spcPct val="105000"/>
              </a:lnSpc>
              <a:spcAft>
                <a:spcPts val="1000"/>
              </a:spcAft>
            </a:pPr>
            <a:r>
              <a:rPr sz="1250" b="0" i="0">
                <a:solidFill>
                  <a:srgbClr val="334155"/>
                </a:solidFill>
                <a:latin typeface="Segoe UI"/>
              </a:rPr>
              <a:t>•  </a:t>
            </a:r>
            <a:r>
              <a:rPr sz="1250" b="0" i="0">
                <a:solidFill>
                  <a:srgbClr val="334155"/>
                </a:solidFill>
                <a:latin typeface="Segoe UI"/>
              </a:rPr>
              <a:t>MITRE ATLAS · NIST AI RMF</a:t>
            </a:r>
          </a:p>
        </p:txBody>
      </p:sp>
      <p:sp>
        <p:nvSpPr>
          <p:cNvPr id="9" name="Rectangle 8"/>
          <p:cNvSpPr/>
          <p:nvPr/>
        </p:nvSpPr>
        <p:spPr>
          <a:xfrm>
            <a:off x="502920" y="6327648"/>
            <a:ext cx="11183112"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00800"/>
            <a:ext cx="11183112" cy="365760"/>
          </a:xfrm>
          <a:prstGeom prst="rect">
            <a:avLst/>
          </a:prstGeom>
          <a:noFill/>
        </p:spPr>
        <p:txBody>
          <a:bodyPr wrap="square" lIns="0" rIns="0" tIns="0" bIns="0">
            <a:spAutoFit/>
          </a:bodyPr>
          <a:lstStyle/>
          <a:p>
            <a:r>
              <a:rPr sz="1050" b="1" i="0">
                <a:solidFill>
                  <a:srgbClr val="64748B"/>
                </a:solidFill>
                <a:latin typeface="Segoe UI"/>
              </a:rPr>
              <a:t>Sources : </a:t>
            </a:r>
            <a:r>
              <a:rPr sz="1050" b="0" i="0">
                <a:solidFill>
                  <a:srgbClr val="64748B"/>
                </a:solidFill>
                <a:latin typeface="Segoe UI"/>
              </a:rPr>
              <a:t>Bibliographie complète : sources.md (25 entrées vérifiées).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